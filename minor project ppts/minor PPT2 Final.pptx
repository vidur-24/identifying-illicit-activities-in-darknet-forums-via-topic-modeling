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70" r:id="rId9"/>
    <p:sldId id="263" r:id="rId10"/>
    <p:sldId id="265" r:id="rId11"/>
    <p:sldId id="277" r:id="rId12"/>
    <p:sldId id="278" r:id="rId13"/>
    <p:sldId id="276" r:id="rId14"/>
    <p:sldId id="271" r:id="rId15"/>
    <p:sldId id="272" r:id="rId16"/>
    <p:sldId id="275" r:id="rId17"/>
    <p:sldId id="274" r:id="rId18"/>
    <p:sldId id="273" r:id="rId19"/>
    <p:sldId id="269" r:id="rId20"/>
  </p:sldIdLst>
  <p:sldSz cx="9144000" cy="6858000" type="screen4x3"/>
  <p:notesSz cx="6858000" cy="9144000"/>
  <p:embeddedFontLst>
    <p:embeddedFont>
      <p:font typeface="Arial Black" panose="020B0A04020102020204" pitchFamily="34" charset="0"/>
      <p:regular r:id="rId22"/>
      <p:bold r:id="rId23"/>
    </p:embeddedFont>
    <p:embeddedFont>
      <p:font typeface="Rockwell" panose="02060603020205020403" pitchFamily="18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D56E9D-DA49-46D4-ABB4-A02986B263F2}">
  <a:tblStyle styleId="{63D56E9D-DA49-46D4-ABB4-A02986B263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8" y="7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0DE5526D-3DA7-E535-21E1-9F248EAAA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>
            <a:extLst>
              <a:ext uri="{FF2B5EF4-FFF2-40B4-BE49-F238E27FC236}">
                <a16:creationId xmlns:a16="http://schemas.microsoft.com/office/drawing/2014/main" id="{A6EB9503-F180-2B45-DE81-C3D85481E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>
            <a:extLst>
              <a:ext uri="{FF2B5EF4-FFF2-40B4-BE49-F238E27FC236}">
                <a16:creationId xmlns:a16="http://schemas.microsoft.com/office/drawing/2014/main" id="{6D637603-650D-4188-B136-0A68D53B82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6548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324BB950-D5B6-41B0-9086-ED7813FE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>
            <a:extLst>
              <a:ext uri="{FF2B5EF4-FFF2-40B4-BE49-F238E27FC236}">
                <a16:creationId xmlns:a16="http://schemas.microsoft.com/office/drawing/2014/main" id="{DCBAB826-01F2-A3FC-AB08-55754BF517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>
            <a:extLst>
              <a:ext uri="{FF2B5EF4-FFF2-40B4-BE49-F238E27FC236}">
                <a16:creationId xmlns:a16="http://schemas.microsoft.com/office/drawing/2014/main" id="{56014021-BEE5-2993-5985-0D6F2A92D7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9357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AB7A6A39-3802-3D5E-9120-27D99BAB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>
            <a:extLst>
              <a:ext uri="{FF2B5EF4-FFF2-40B4-BE49-F238E27FC236}">
                <a16:creationId xmlns:a16="http://schemas.microsoft.com/office/drawing/2014/main" id="{D4CCDC0D-4D0D-123B-AE18-75EDBEA24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>
            <a:extLst>
              <a:ext uri="{FF2B5EF4-FFF2-40B4-BE49-F238E27FC236}">
                <a16:creationId xmlns:a16="http://schemas.microsoft.com/office/drawing/2014/main" id="{0803E980-0C64-AA03-8EC7-26A7985B39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4822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E7BA04D7-D032-C01F-2F20-712D114CB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>
            <a:extLst>
              <a:ext uri="{FF2B5EF4-FFF2-40B4-BE49-F238E27FC236}">
                <a16:creationId xmlns:a16="http://schemas.microsoft.com/office/drawing/2014/main" id="{428884D9-34F2-69F9-0848-B79AC238B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>
            <a:extLst>
              <a:ext uri="{FF2B5EF4-FFF2-40B4-BE49-F238E27FC236}">
                <a16:creationId xmlns:a16="http://schemas.microsoft.com/office/drawing/2014/main" id="{D0173875-8525-EE59-C470-C6C86B1A53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3402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AC7F7627-6244-0527-2EA2-4E25211F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>
            <a:extLst>
              <a:ext uri="{FF2B5EF4-FFF2-40B4-BE49-F238E27FC236}">
                <a16:creationId xmlns:a16="http://schemas.microsoft.com/office/drawing/2014/main" id="{F43126A1-8F49-A37A-4FAB-D5C002B9A0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>
            <a:extLst>
              <a:ext uri="{FF2B5EF4-FFF2-40B4-BE49-F238E27FC236}">
                <a16:creationId xmlns:a16="http://schemas.microsoft.com/office/drawing/2014/main" id="{92A42DB4-FA02-76B5-714F-6AEF4B497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53421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506CC824-A39C-3AA8-788C-F9F702745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>
            <a:extLst>
              <a:ext uri="{FF2B5EF4-FFF2-40B4-BE49-F238E27FC236}">
                <a16:creationId xmlns:a16="http://schemas.microsoft.com/office/drawing/2014/main" id="{1A300D85-69CF-BA42-A85D-1E83E86A0A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>
            <a:extLst>
              <a:ext uri="{FF2B5EF4-FFF2-40B4-BE49-F238E27FC236}">
                <a16:creationId xmlns:a16="http://schemas.microsoft.com/office/drawing/2014/main" id="{BD66EDF8-4890-C346-9AB7-D1E964BA6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3981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F9068644-9010-3005-9FA9-F80435E98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>
            <a:extLst>
              <a:ext uri="{FF2B5EF4-FFF2-40B4-BE49-F238E27FC236}">
                <a16:creationId xmlns:a16="http://schemas.microsoft.com/office/drawing/2014/main" id="{F75B7A72-5263-C68F-5FFA-D5CF3CFCF1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>
            <a:extLst>
              <a:ext uri="{FF2B5EF4-FFF2-40B4-BE49-F238E27FC236}">
                <a16:creationId xmlns:a16="http://schemas.microsoft.com/office/drawing/2014/main" id="{CA2C9D95-BEF4-5E6E-4FE9-0B11FB412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92188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A561D05B-9563-7F75-8BBC-44EFF9442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>
            <a:extLst>
              <a:ext uri="{FF2B5EF4-FFF2-40B4-BE49-F238E27FC236}">
                <a16:creationId xmlns:a16="http://schemas.microsoft.com/office/drawing/2014/main" id="{8FC76322-2345-7424-3236-50BB02CB1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>
            <a:extLst>
              <a:ext uri="{FF2B5EF4-FFF2-40B4-BE49-F238E27FC236}">
                <a16:creationId xmlns:a16="http://schemas.microsoft.com/office/drawing/2014/main" id="{AFCD822C-E81F-6B51-8727-C69956C3AC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3565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79FF2473-7673-C8C4-53C8-F5C6D029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>
            <a:extLst>
              <a:ext uri="{FF2B5EF4-FFF2-40B4-BE49-F238E27FC236}">
                <a16:creationId xmlns:a16="http://schemas.microsoft.com/office/drawing/2014/main" id="{ADBD7A89-E89F-6379-B96E-B21220098C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>
            <a:extLst>
              <a:ext uri="{FF2B5EF4-FFF2-40B4-BE49-F238E27FC236}">
                <a16:creationId xmlns:a16="http://schemas.microsoft.com/office/drawing/2014/main" id="{26020259-44C7-2037-2E92-855CEF603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26980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rotWithShape="1">
            <a:blip r:embed="rId2">
              <a:alphaModFix amt="8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ckwell"/>
              <a:buNone/>
              <a:defRPr sz="6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  <a:defRPr sz="1800" b="0">
                <a:solidFill>
                  <a:srgbClr val="69240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dt" idx="10"/>
          </p:nvPr>
        </p:nvSpPr>
        <p:spPr>
          <a:xfrm>
            <a:off x="6445251" y="6272785"/>
            <a:ext cx="19832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ftr" idx="11"/>
          </p:nvPr>
        </p:nvSpPr>
        <p:spPr>
          <a:xfrm>
            <a:off x="1636099" y="6272784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2" name="Google Shape;42;p4"/>
          <p:cNvGrpSpPr/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43" name="Google Shape;43;p4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sldNum" idx="12"/>
          </p:nvPr>
        </p:nvSpPr>
        <p:spPr>
          <a:xfrm>
            <a:off x="645450" y="2508607"/>
            <a:ext cx="891224" cy="72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lvl="1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lvl="2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lvl="3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lvl="4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lvl="5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lvl="6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lvl="7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lvl="8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1"/>
          </p:nvPr>
        </p:nvSpPr>
        <p:spPr>
          <a:xfrm>
            <a:off x="685800" y="2194560"/>
            <a:ext cx="365760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2"/>
          </p:nvPr>
        </p:nvSpPr>
        <p:spPr>
          <a:xfrm>
            <a:off x="4792218" y="2194560"/>
            <a:ext cx="365760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body" idx="2"/>
          </p:nvPr>
        </p:nvSpPr>
        <p:spPr>
          <a:xfrm>
            <a:off x="685800" y="2743200"/>
            <a:ext cx="36576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3"/>
          </p:nvPr>
        </p:nvSpPr>
        <p:spPr>
          <a:xfrm>
            <a:off x="4820793" y="2048256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4"/>
          </p:nvPr>
        </p:nvSpPr>
        <p:spPr>
          <a:xfrm>
            <a:off x="4820793" y="2743200"/>
            <a:ext cx="36576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  <a:defRPr sz="28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1"/>
          </p:nvPr>
        </p:nvSpPr>
        <p:spPr>
          <a:xfrm>
            <a:off x="628650" y="685800"/>
            <a:ext cx="5033772" cy="502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2"/>
          </p:nvPr>
        </p:nvSpPr>
        <p:spPr>
          <a:xfrm>
            <a:off x="6412230" y="2423160"/>
            <a:ext cx="24003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48"/>
              <a:buNone/>
              <a:defRPr sz="1350">
                <a:solidFill>
                  <a:srgbClr val="69240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grpSp>
        <p:nvGrpSpPr>
          <p:cNvPr id="76" name="Google Shape;76;p9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77" name="Google Shape;77;p9"/>
            <p:cNvSpPr/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9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  <a:defRPr sz="28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6227805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body" idx="1"/>
          </p:nvPr>
        </p:nvSpPr>
        <p:spPr>
          <a:xfrm>
            <a:off x="6412230" y="2423160"/>
            <a:ext cx="24003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48"/>
              <a:buNone/>
              <a:defRPr sz="1350">
                <a:solidFill>
                  <a:srgbClr val="69240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grpSp>
        <p:nvGrpSpPr>
          <p:cNvPr id="87" name="Google Shape;87;p10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8" name="Google Shape;88;p10"/>
            <p:cNvSpPr/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0"/>
            <p:cNvSpPr/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10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1"/>
          </p:nvPr>
        </p:nvSpPr>
        <p:spPr>
          <a:xfrm rot="5400000">
            <a:off x="2546604" y="260604"/>
            <a:ext cx="4050792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 rot="5400000">
            <a:off x="4681538" y="2395538"/>
            <a:ext cx="5638800" cy="191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 rot="5400000">
            <a:off x="795338" y="538163"/>
            <a:ext cx="5638800" cy="562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1" name="Google Shape;11;p1"/>
            <p:cNvSpPr/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rotWithShape="1">
              <a:blip r:embed="rId12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  <a:defRPr sz="4200" b="0" i="0" u="none" strike="noStrike" cap="non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495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4959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69240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69240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zsecure-data.org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shorturl.at/u30Dz" TargetMode="External"/><Relationship Id="rId3" Type="http://schemas.openxmlformats.org/officeDocument/2006/relationships/hyperlink" Target="https://www.azsecure-data.org/" TargetMode="External"/><Relationship Id="rId7" Type="http://schemas.openxmlformats.org/officeDocument/2006/relationships/hyperlink" Target="https://link.springer.com/article/10.1007/s11042-023-17222-8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prints.qut.edu.au/246151/" TargetMode="External"/><Relationship Id="rId5" Type="http://schemas.openxmlformats.org/officeDocument/2006/relationships/hyperlink" Target="https://link.springer.com/article/10.1186/s13388-014-0005-5" TargetMode="External"/><Relationship Id="rId4" Type="http://schemas.openxmlformats.org/officeDocument/2006/relationships/hyperlink" Target="https://shorturl.at/KUh8L" TargetMode="External"/><Relationship Id="rId9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/>
        </p:nvSpPr>
        <p:spPr>
          <a:xfrm>
            <a:off x="96822" y="3154971"/>
            <a:ext cx="8950356" cy="72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lnSpc>
                <a:spcPct val="90000"/>
              </a:lnSpc>
              <a:buSzPts val="2500"/>
            </a:pPr>
            <a:r>
              <a:rPr lang="en-US" sz="2800" b="1" dirty="0">
                <a:latin typeface="Aptos" panose="020B0004020202020204" pitchFamily="34" charset="0"/>
              </a:rPr>
              <a:t>TOPIC MODELLING ON DARK WEB FORUMS</a:t>
            </a:r>
            <a:endParaRPr b="1" dirty="0">
              <a:latin typeface="Aptos" panose="020B0004020202020204" pitchFamily="34" charset="0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1055868" y="3992453"/>
            <a:ext cx="6763319" cy="250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 Evaluation Phase - 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dirty="0"/>
          </a:p>
          <a:p>
            <a:pPr marL="457200" marR="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Vidur Dua, 23124119</a:t>
            </a:r>
            <a:endParaRPr dirty="0"/>
          </a:p>
          <a:p>
            <a:pPr marL="457200" marR="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Shivansh Dutta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23124102</a:t>
            </a:r>
            <a:endParaRPr dirty="0"/>
          </a:p>
          <a:p>
            <a:pPr marL="457200" marR="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Karman Singh, 22124056</a:t>
            </a:r>
            <a:endParaRPr dirty="0"/>
          </a:p>
          <a:p>
            <a:pPr marL="457200" marR="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Vaibhav Kanda, 23124113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 : Dr. Jaspal Kaur Saini (Assistant Professor – Dept. of IT)</a:t>
            </a:r>
            <a:endParaRPr dirty="0"/>
          </a:p>
        </p:txBody>
      </p:sp>
      <p:pic>
        <p:nvPicPr>
          <p:cNvPr id="110" name="Google Shape;110;p13" descr="4e0e733da1-nitj-jalandha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7266" y="1269177"/>
            <a:ext cx="1620521" cy="1711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/>
          <p:nvPr/>
        </p:nvSpPr>
        <p:spPr>
          <a:xfrm>
            <a:off x="147460" y="-43466"/>
            <a:ext cx="9042723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Dr. B R Ambedkar National Institute of Technology, Jalandhar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Department of Information Technology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>
            <a:spLocks noGrp="1"/>
          </p:cNvSpPr>
          <p:nvPr>
            <p:ph type="title"/>
          </p:nvPr>
        </p:nvSpPr>
        <p:spPr>
          <a:xfrm>
            <a:off x="587188" y="81220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Federo"/>
              <a:buNone/>
            </a:pPr>
            <a:r>
              <a:rPr lang="en-US" dirty="0">
                <a:latin typeface="Rockwell" panose="02060603020205020403" pitchFamily="18" charset="0"/>
                <a:ea typeface="Federo"/>
                <a:cs typeface="Federo"/>
                <a:sym typeface="Federo"/>
              </a:rPr>
              <a:t>TABLE OF CONTENTS</a:t>
            </a:r>
            <a:endParaRPr dirty="0">
              <a:latin typeface="Rockwell" panose="02060603020205020403" pitchFamily="18" charset="0"/>
            </a:endParaRPr>
          </a:p>
        </p:txBody>
      </p:sp>
      <p:sp>
        <p:nvSpPr>
          <p:cNvPr id="117" name="Google Shape;117;p14"/>
          <p:cNvSpPr txBox="1">
            <a:spLocks noGrp="1"/>
          </p:cNvSpPr>
          <p:nvPr>
            <p:ph type="body" idx="1"/>
          </p:nvPr>
        </p:nvSpPr>
        <p:spPr>
          <a:xfrm>
            <a:off x="710946" y="1690564"/>
            <a:ext cx="7772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  <a:buSzPts val="1700"/>
              <a:buNone/>
            </a:pPr>
            <a:r>
              <a:rPr lang="en-US" b="1" dirty="0">
                <a:latin typeface="Federo"/>
                <a:ea typeface="Federo"/>
                <a:cs typeface="Federo"/>
                <a:sym typeface="Federo"/>
              </a:rPr>
              <a:t>1. </a:t>
            </a:r>
            <a:r>
              <a:rPr lang="en-IN" dirty="0"/>
              <a:t>Introduction</a:t>
            </a:r>
            <a:endParaRPr dirty="0"/>
          </a:p>
          <a:p>
            <a:pPr marL="0" indent="0">
              <a:buSzPts val="1700"/>
              <a:buNone/>
            </a:pPr>
            <a:r>
              <a:rPr lang="en-US" b="1" dirty="0">
                <a:latin typeface="Federo"/>
                <a:ea typeface="Federo"/>
                <a:cs typeface="Federo"/>
                <a:sym typeface="Federo"/>
              </a:rPr>
              <a:t>2. </a:t>
            </a:r>
            <a:r>
              <a:rPr lang="en-IN" dirty="0"/>
              <a:t>Literature Review</a:t>
            </a:r>
          </a:p>
          <a:p>
            <a:pPr marL="0" lvl="0" indent="0">
              <a:buSzPts val="1700"/>
              <a:buNone/>
            </a:pPr>
            <a:r>
              <a:rPr lang="en-US" b="1" dirty="0">
                <a:latin typeface="Federo"/>
                <a:ea typeface="Federo"/>
                <a:cs typeface="Federo"/>
                <a:sym typeface="Federo"/>
              </a:rPr>
              <a:t>3. </a:t>
            </a:r>
            <a:r>
              <a:rPr lang="en-IN" dirty="0"/>
              <a:t>Problem Statement</a:t>
            </a:r>
            <a:endParaRPr b="1" dirty="0">
              <a:latin typeface="Federo"/>
              <a:ea typeface="Federo"/>
              <a:cs typeface="Federo"/>
              <a:sym typeface="Federo"/>
            </a:endParaRPr>
          </a:p>
          <a:p>
            <a:pPr marL="0" lvl="0" indent="0">
              <a:buSzPts val="1700"/>
              <a:buNone/>
            </a:pPr>
            <a:r>
              <a:rPr lang="en-US" b="1" dirty="0">
                <a:latin typeface="Federo"/>
                <a:ea typeface="Federo"/>
                <a:cs typeface="Federo"/>
                <a:sym typeface="Federo"/>
              </a:rPr>
              <a:t>4. </a:t>
            </a:r>
            <a:r>
              <a:rPr lang="en-IN" dirty="0"/>
              <a:t>Objectives</a:t>
            </a:r>
          </a:p>
          <a:p>
            <a:pPr marL="0" lvl="0" indent="0">
              <a:buSzPts val="1700"/>
              <a:buNone/>
            </a:pPr>
            <a:r>
              <a:rPr lang="en-US" b="1" dirty="0">
                <a:latin typeface="Federo"/>
                <a:ea typeface="Federo"/>
                <a:cs typeface="Federo"/>
                <a:sym typeface="Federo"/>
              </a:rPr>
              <a:t>5 . </a:t>
            </a:r>
            <a:r>
              <a:rPr lang="en-IN" dirty="0"/>
              <a:t>System Architecture (Diagram)</a:t>
            </a:r>
            <a:endParaRPr dirty="0"/>
          </a:p>
          <a:p>
            <a:pPr marL="0" lvl="0" indent="0">
              <a:buSzPts val="1700"/>
              <a:buNone/>
            </a:pPr>
            <a:r>
              <a:rPr lang="en-US" b="1" dirty="0">
                <a:latin typeface="Federo"/>
                <a:ea typeface="Federo"/>
                <a:cs typeface="Federo"/>
                <a:sym typeface="Federo"/>
              </a:rPr>
              <a:t>6 . </a:t>
            </a:r>
            <a:r>
              <a:rPr lang="en-IN" dirty="0"/>
              <a:t>Methodology</a:t>
            </a:r>
            <a:endParaRPr dirty="0"/>
          </a:p>
          <a:p>
            <a:pPr marL="0" lvl="0" indent="0">
              <a:buSzPts val="1700"/>
              <a:buNone/>
            </a:pPr>
            <a:r>
              <a:rPr lang="en-US" b="1" dirty="0">
                <a:latin typeface="Federo"/>
                <a:ea typeface="Federo"/>
                <a:cs typeface="Federo"/>
                <a:sym typeface="Federo"/>
              </a:rPr>
              <a:t>7. </a:t>
            </a:r>
            <a:r>
              <a:rPr lang="en-IN" dirty="0"/>
              <a:t>Basic LDA Implementation (Ansar1 Dataset)</a:t>
            </a:r>
          </a:p>
          <a:p>
            <a:pPr marL="0" lvl="0" indent="0">
              <a:buSzPts val="1700"/>
              <a:buNone/>
            </a:pPr>
            <a:r>
              <a:rPr lang="en-US" b="1" dirty="0">
                <a:latin typeface="Federo"/>
                <a:ea typeface="Federo"/>
                <a:cs typeface="Federo"/>
                <a:sym typeface="Federo"/>
              </a:rPr>
              <a:t>8. </a:t>
            </a:r>
            <a:r>
              <a:rPr lang="en-IN" dirty="0"/>
              <a:t>Issues Observed (Basic LDA Limitations)</a:t>
            </a:r>
          </a:p>
          <a:p>
            <a:pPr marL="0" lvl="0" indent="0">
              <a:buSzPts val="1700"/>
              <a:buNone/>
            </a:pPr>
            <a:r>
              <a:rPr lang="en-US" b="1" dirty="0">
                <a:latin typeface="Federo"/>
                <a:ea typeface="Federo"/>
                <a:cs typeface="Federo"/>
                <a:sym typeface="Federo"/>
              </a:rPr>
              <a:t>9. </a:t>
            </a:r>
            <a:r>
              <a:rPr lang="en-IN" dirty="0"/>
              <a:t>Proposed Improvements </a:t>
            </a:r>
          </a:p>
          <a:p>
            <a:pPr marL="0" lvl="0" indent="0">
              <a:buSzPts val="1700"/>
              <a:buNone/>
            </a:pPr>
            <a:r>
              <a:rPr lang="en-US" b="1" dirty="0">
                <a:latin typeface="Federo"/>
                <a:ea typeface="Federo"/>
                <a:cs typeface="Federo"/>
                <a:sym typeface="Federo"/>
              </a:rPr>
              <a:t>10. </a:t>
            </a:r>
            <a:r>
              <a:rPr lang="en-IN" dirty="0"/>
              <a:t>Progress Till Now</a:t>
            </a:r>
          </a:p>
          <a:p>
            <a:pPr marL="0" lvl="0" indent="0">
              <a:buSzPts val="1700"/>
              <a:buNone/>
            </a:pPr>
            <a:r>
              <a:rPr lang="en-US" b="1" dirty="0">
                <a:latin typeface="Federo"/>
                <a:ea typeface="Federo"/>
                <a:cs typeface="Federo"/>
                <a:sym typeface="Federo"/>
              </a:rPr>
              <a:t>11. </a:t>
            </a:r>
            <a:r>
              <a:rPr lang="en-IN" dirty="0"/>
              <a:t>Future Scope</a:t>
            </a:r>
          </a:p>
          <a:p>
            <a:pPr marL="0" indent="0">
              <a:buSzPts val="1700"/>
              <a:buNone/>
            </a:pPr>
            <a:r>
              <a:rPr lang="en-US" b="1" dirty="0">
                <a:latin typeface="Federo"/>
                <a:ea typeface="Federo"/>
                <a:cs typeface="Federo"/>
                <a:sym typeface="Federo"/>
              </a:rPr>
              <a:t>12.</a:t>
            </a:r>
            <a:r>
              <a:rPr lang="en-IN" dirty="0"/>
              <a:t> References</a:t>
            </a:r>
          </a:p>
          <a:p>
            <a:pPr marL="0" lvl="0" indent="0">
              <a:buSzPts val="1700"/>
              <a:buNone/>
            </a:pPr>
            <a:endParaRPr lang="en-US" b="1" dirty="0">
              <a:latin typeface="Federo"/>
              <a:ea typeface="Federo"/>
              <a:cs typeface="Federo"/>
              <a:sym typeface="Federo"/>
            </a:endParaRPr>
          </a:p>
        </p:txBody>
      </p:sp>
      <p:pic>
        <p:nvPicPr>
          <p:cNvPr id="118" name="Google Shape;118;p14" descr="4e0e733da1-nitj-jalandha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1828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25/11/2025</a:t>
            </a:r>
            <a:endParaRPr dirty="0"/>
          </a:p>
        </p:txBody>
      </p:sp>
      <p:sp>
        <p:nvSpPr>
          <p:cNvPr id="120" name="Google Shape;120;p14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lang="en-US" sz="4200" b="0" cap="none" dirty="0">
                <a:latin typeface="Rockwell"/>
                <a:ea typeface="Rockwell"/>
                <a:cs typeface="Rockwell"/>
                <a:sym typeface="Rockwell"/>
              </a:rPr>
              <a:t>INTRODUCTION</a:t>
            </a:r>
            <a:endParaRPr dirty="0"/>
          </a:p>
        </p:txBody>
      </p:sp>
      <p:pic>
        <p:nvPicPr>
          <p:cNvPr id="126" name="Google Shape;126;p15" descr="4e0e733da1-nitj-jalandha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1828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129" name="Google Shape;129;p15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348848-640E-2968-27F4-1A3FF746C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643" y="1969480"/>
            <a:ext cx="8124713" cy="3826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Dark web forums contain discussions related to: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cybercrime, drugs, zero-day exploits, financial fraud, ransomware, illegal marketplaces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Manual analysis is difficult due to large volumes and high noise.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Topic Modelling helps extract hidden themes.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LDA (Latent Dirichlet Allocation)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 is widely used but struggles with noisy and short dark-web posts.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This project focuses on:</a:t>
            </a:r>
          </a:p>
          <a:p>
            <a:pPr lvl="3" eaLnBrk="0" fontAlgn="base" hangingPunct="0">
              <a:spcBef>
                <a:spcPts val="200"/>
              </a:spcBef>
              <a:spcAft>
                <a:spcPts val="20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	- </a:t>
            </a: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0"/>
              </a:rPr>
              <a:t>Implementing </a:t>
            </a: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0"/>
              </a:rPr>
              <a:t>Basic LDA</a:t>
            </a: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0"/>
              </a:rPr>
              <a:t>,</a:t>
            </a:r>
          </a:p>
          <a:p>
            <a:pPr lvl="1" eaLnBrk="0" fontAlgn="base" hangingPunct="0">
              <a:spcBef>
                <a:spcPts val="200"/>
              </a:spcBef>
              <a:spcAft>
                <a:spcPts val="20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0"/>
              </a:rPr>
              <a:t>	- Identifying its limitations,</a:t>
            </a:r>
          </a:p>
          <a:p>
            <a:pPr lvl="0" eaLnBrk="0" fontAlgn="base" hangingPunct="0">
              <a:spcBef>
                <a:spcPts val="200"/>
              </a:spcBef>
              <a:spcAft>
                <a:spcPts val="20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0"/>
              </a:rPr>
              <a:t>	- Proposing enhancements for future implementation.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>
            <a:spLocks noGrp="1"/>
          </p:cNvSpPr>
          <p:nvPr>
            <p:ph type="title"/>
          </p:nvPr>
        </p:nvSpPr>
        <p:spPr>
          <a:xfrm>
            <a:off x="2199450" y="-13641"/>
            <a:ext cx="47451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lang="en-US" sz="2800" dirty="0"/>
              <a:t>LITERATURE REVIEW</a:t>
            </a:r>
            <a:endParaRPr sz="2800" dirty="0"/>
          </a:p>
        </p:txBody>
      </p:sp>
      <p:sp>
        <p:nvSpPr>
          <p:cNvPr id="135" name="Google Shape;135;p16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136" name="Google Shape;136;p16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graphicFrame>
        <p:nvGraphicFramePr>
          <p:cNvPr id="137" name="Google Shape;137;p16"/>
          <p:cNvGraphicFramePr/>
          <p:nvPr>
            <p:extLst>
              <p:ext uri="{D42A27DB-BD31-4B8C-83A1-F6EECF244321}">
                <p14:modId xmlns:p14="http://schemas.microsoft.com/office/powerpoint/2010/main" val="3388251674"/>
              </p:ext>
            </p:extLst>
          </p:nvPr>
        </p:nvGraphicFramePr>
        <p:xfrm>
          <a:off x="164375" y="880796"/>
          <a:ext cx="8815250" cy="5296645"/>
        </p:xfrm>
        <a:graphic>
          <a:graphicData uri="http://schemas.openxmlformats.org/drawingml/2006/table">
            <a:tbl>
              <a:tblPr>
                <a:noFill/>
                <a:tableStyleId>{63D56E9D-DA49-46D4-ABB4-A02986B263F2}</a:tableStyleId>
              </a:tblPr>
              <a:tblGrid>
                <a:gridCol w="17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Author(Year)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</a:rPr>
                        <a:t>Journal 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/>
                        <a:t>Dataset</a:t>
                      </a:r>
                      <a:endParaRPr sz="12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/>
                        <a:t>Methodology</a:t>
                      </a:r>
                      <a:endParaRPr sz="12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/>
                        <a:t>Drawback</a:t>
                      </a:r>
                      <a:endParaRPr sz="12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Scanlon &amp; Gerber (2014) </a:t>
                      </a:r>
                      <a:r>
                        <a:rPr lang="en-US" sz="1100" dirty="0"/>
                        <a:t>[2]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Security Informatics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Ansar1 Dark Web Forum; ~29K posts, 192 </a:t>
                      </a:r>
                      <a:r>
                        <a:rPr lang="en-IN" sz="1100" dirty="0" err="1"/>
                        <a:t>labeled</a:t>
                      </a:r>
                      <a:r>
                        <a:rPr lang="en-IN" sz="1100" dirty="0"/>
                        <a:t> for recruitment detection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Text preprocessing + TF-IDF features; trained ML classifiers (Naive Bayes, Logistic Regression, SVM).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Best performance with </a:t>
                      </a:r>
                      <a:r>
                        <a:rPr lang="en-IN" sz="1100" b="1" dirty="0"/>
                        <a:t>SVM (AUC ≈ 0.89)</a:t>
                      </a:r>
                      <a:r>
                        <a:rPr lang="en-IN" sz="1100" dirty="0"/>
                        <a:t> for detecting cyber-recruitment activity.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Very small labeled portion; English-only posts; simple Bag-of-Words features; limited ability to capture deeper context or multilingual text.</a:t>
                      </a:r>
                      <a:endParaRPr sz="11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Saini &amp; Bansal (2019) </a:t>
                      </a:r>
                      <a:r>
                        <a:rPr lang="en-US" sz="1100" dirty="0"/>
                        <a:t>[3]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Cybernetics &amp; Systems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4 jihadist forums (Ansar1, </a:t>
                      </a:r>
                      <a:r>
                        <a:rPr lang="en-IN" sz="1100" dirty="0" err="1"/>
                        <a:t>IslamicAwakening</a:t>
                      </a:r>
                      <a:r>
                        <a:rPr lang="en-IN" sz="1100" dirty="0"/>
                        <a:t>, Gawaher, </a:t>
                      </a:r>
                      <a:r>
                        <a:rPr lang="en-IN" sz="1100" dirty="0" err="1"/>
                        <a:t>IslamicNetwork</a:t>
                      </a:r>
                      <a:r>
                        <a:rPr lang="en-IN" sz="1100" dirty="0"/>
                        <a:t>); 313 </a:t>
                      </a:r>
                      <a:r>
                        <a:rPr lang="en-IN" sz="1100" dirty="0" err="1"/>
                        <a:t>labeled</a:t>
                      </a:r>
                      <a:r>
                        <a:rPr lang="en-IN" sz="1100" dirty="0"/>
                        <a:t> posts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Classical ML pipeline using SVM, Random Forest, </a:t>
                      </a:r>
                      <a:r>
                        <a:rPr lang="en-US" sz="1100" dirty="0" err="1"/>
                        <a:t>MaxEnt</a:t>
                      </a:r>
                      <a:r>
                        <a:rPr lang="en-US" sz="1100" dirty="0"/>
                        <a:t>, Tree-based models; evaluated with precision, recall, F-score.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Focused on detecting </a:t>
                      </a:r>
                      <a:r>
                        <a:rPr lang="en-US" sz="1100" b="1" dirty="0"/>
                        <a:t>illegal weapon procurement</a:t>
                      </a:r>
                      <a:r>
                        <a:rPr lang="en-US" sz="1100" dirty="0"/>
                        <a:t> conversations.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Dataset small and binary in nature; mostly English content; ignores other extremist activities; doesn’t handle multilingual, noisy real-world dark-web text.</a:t>
                      </a:r>
                      <a:endParaRPr sz="11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1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 err="1"/>
                        <a:t>Geeganage</a:t>
                      </a:r>
                      <a:r>
                        <a:rPr lang="en-IN" sz="1100" dirty="0"/>
                        <a:t> et al. (2024)</a:t>
                      </a:r>
                      <a:r>
                        <a:rPr lang="en-US" sz="1100" dirty="0"/>
                        <a:t> [1]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Semantic-LDA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Benchmark corpora for topic modelling (general-purpose datasets)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Introduced </a:t>
                      </a:r>
                      <a:r>
                        <a:rPr lang="en-US" sz="1100" b="1" dirty="0"/>
                        <a:t>Semantic-LDA</a:t>
                      </a:r>
                      <a:r>
                        <a:rPr lang="en-US" sz="1100" dirty="0"/>
                        <a:t>, which incorporates semantic relationships and word–concept mappings to improve topic coherence.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It addresses LDA’s limitations by producing </a:t>
                      </a:r>
                      <a:r>
                        <a:rPr lang="en-US" sz="1100" b="1" dirty="0"/>
                        <a:t>more meaningful and interpretable topics</a:t>
                      </a:r>
                      <a:r>
                        <a:rPr lang="en-US" sz="1100" dirty="0"/>
                        <a:t>, especially when words have multiple meanings.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Requires external semantic resources (ontologies/knowledge bases); higher computational cost; not tested on </a:t>
                      </a:r>
                      <a:r>
                        <a:rPr lang="en-US" sz="1100" b="1" dirty="0"/>
                        <a:t>noisy multilingual dark-web data</a:t>
                      </a:r>
                      <a:r>
                        <a:rPr lang="en-US" sz="1100" dirty="0"/>
                        <a:t>, so performance on such text remains unknown.</a:t>
                      </a:r>
                      <a:endParaRPr sz="11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>
            <a:spLocks noGrp="1"/>
          </p:cNvSpPr>
          <p:nvPr>
            <p:ph type="title"/>
          </p:nvPr>
        </p:nvSpPr>
        <p:spPr>
          <a:xfrm>
            <a:off x="246888" y="292608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43" name="Google Shape;143;p17"/>
          <p:cNvSpPr txBox="1">
            <a:spLocks noGrp="1"/>
          </p:cNvSpPr>
          <p:nvPr>
            <p:ph type="body" idx="1"/>
          </p:nvPr>
        </p:nvSpPr>
        <p:spPr>
          <a:xfrm>
            <a:off x="41148" y="1517904"/>
            <a:ext cx="9061704" cy="5157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IN" sz="1600" b="1" dirty="0"/>
              <a:t>Problem Statement</a:t>
            </a:r>
          </a:p>
          <a:p>
            <a:pPr marL="131445" indent="0">
              <a:buNone/>
            </a:pPr>
            <a:r>
              <a:rPr lang="en-IN" sz="1600" dirty="0"/>
              <a:t>       Dark-web forum posts are </a:t>
            </a:r>
            <a:r>
              <a:rPr lang="en-IN" sz="1600" b="1" dirty="0"/>
              <a:t>short, noisy, unstructured, and multilingual</a:t>
            </a:r>
            <a:r>
              <a:rPr lang="en-IN" sz="1600" dirty="0"/>
              <a:t> (Somali, Arabic,   English). Such content contains slang, code words, and ideological language, making automated analysis challenging.</a:t>
            </a:r>
          </a:p>
          <a:p>
            <a:r>
              <a:rPr lang="en-IN" sz="1600" dirty="0"/>
              <a:t>Traditional </a:t>
            </a:r>
            <a:r>
              <a:rPr lang="en-IN" sz="1600" b="1" dirty="0"/>
              <a:t>LDA struggles</a:t>
            </a:r>
            <a:r>
              <a:rPr lang="en-IN" sz="1600" dirty="0"/>
              <a:t> on this type of data due to:</a:t>
            </a:r>
          </a:p>
          <a:p>
            <a:pPr marL="131445" indent="0">
              <a:buNone/>
            </a:pPr>
            <a:r>
              <a:rPr lang="en-IN" sz="1600" b="1" dirty="0"/>
              <a:t>	- Overlapping or unclear topics</a:t>
            </a:r>
            <a:endParaRPr lang="en-IN" sz="1600" dirty="0"/>
          </a:p>
          <a:p>
            <a:pPr marL="131445" indent="0">
              <a:buNone/>
            </a:pPr>
            <a:r>
              <a:rPr lang="en-IN" sz="1600" b="1" dirty="0"/>
              <a:t>	- Low topic coherence</a:t>
            </a:r>
            <a:endParaRPr lang="en-IN" sz="1600" dirty="0"/>
          </a:p>
          <a:p>
            <a:pPr marL="131445" indent="0">
              <a:buNone/>
            </a:pPr>
            <a:r>
              <a:rPr lang="en-IN" sz="1600" b="1" dirty="0"/>
              <a:t>	- Noisy / irrelevant high-frequency keywords</a:t>
            </a:r>
            <a:endParaRPr lang="en-IN" sz="1600" dirty="0"/>
          </a:p>
          <a:p>
            <a:pPr marL="131445" indent="0">
              <a:buNone/>
            </a:pPr>
            <a:r>
              <a:rPr lang="en-IN" sz="1600" b="1" dirty="0"/>
              <a:t>	- No semantic understanding</a:t>
            </a:r>
            <a:r>
              <a:rPr lang="en-IN" sz="1600" dirty="0"/>
              <a:t> (words treated independently)</a:t>
            </a:r>
          </a:p>
          <a:p>
            <a:pPr marL="131445" indent="0">
              <a:buNone/>
            </a:pPr>
            <a:r>
              <a:rPr lang="en-IN" sz="1600" b="1" dirty="0"/>
              <a:t>	- Poor handling of multilingual content</a:t>
            </a:r>
            <a:r>
              <a:rPr lang="en-IN" sz="1600" dirty="0"/>
              <a:t>, especially Arabic</a:t>
            </a:r>
          </a:p>
          <a:p>
            <a:r>
              <a:rPr lang="en-IN" sz="1600" b="1" dirty="0"/>
              <a:t>Need for Improvement</a:t>
            </a:r>
          </a:p>
          <a:p>
            <a:pPr marL="131445" indent="0">
              <a:buNone/>
            </a:pPr>
            <a:r>
              <a:rPr lang="en-IN" sz="1600" dirty="0"/>
              <a:t>	- A more robust pipeline is required with:</a:t>
            </a:r>
          </a:p>
          <a:p>
            <a:pPr marL="131445" indent="0">
              <a:buNone/>
            </a:pPr>
            <a:r>
              <a:rPr lang="en-IN" sz="1600" dirty="0"/>
              <a:t>	- Stronger </a:t>
            </a:r>
            <a:r>
              <a:rPr lang="en-IN" sz="1600" b="1" dirty="0"/>
              <a:t>preprocessing and normalization</a:t>
            </a:r>
            <a:endParaRPr lang="en-IN" sz="1600" dirty="0"/>
          </a:p>
          <a:p>
            <a:pPr marL="131445" indent="0">
              <a:buNone/>
            </a:pPr>
            <a:r>
              <a:rPr lang="en-IN" sz="1600" b="1" dirty="0"/>
              <a:t>	</a:t>
            </a:r>
            <a:r>
              <a:rPr lang="en-IN" sz="1600" dirty="0"/>
              <a:t>-</a:t>
            </a:r>
            <a:r>
              <a:rPr lang="en-IN" sz="1600" b="1" dirty="0"/>
              <a:t> Multilingual handling</a:t>
            </a:r>
            <a:r>
              <a:rPr lang="en-IN" sz="1600" dirty="0"/>
              <a:t> (Arabic → English translation)</a:t>
            </a:r>
          </a:p>
          <a:p>
            <a:pPr marL="131445" indent="0">
              <a:buNone/>
            </a:pPr>
            <a:r>
              <a:rPr lang="en-IN" sz="1600" dirty="0"/>
              <a:t>	- Improved </a:t>
            </a:r>
            <a:r>
              <a:rPr lang="en-IN" sz="1600" b="1" dirty="0"/>
              <a:t>semantic representation </a:t>
            </a:r>
            <a:r>
              <a:rPr lang="en-IN" sz="1600" dirty="0"/>
              <a:t>to extract </a:t>
            </a:r>
            <a:r>
              <a:rPr lang="en-IN" sz="1600" b="1" dirty="0"/>
              <a:t>clear, meaningful, and interpretable 	  topics</a:t>
            </a:r>
            <a:r>
              <a:rPr lang="en-IN" sz="1600" dirty="0"/>
              <a:t> from dark-web discussions.</a:t>
            </a:r>
          </a:p>
        </p:txBody>
      </p:sp>
      <p:pic>
        <p:nvPicPr>
          <p:cNvPr id="144" name="Google Shape;144;p17" descr="4e0e733da1-nitj-jalandha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1828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146" name="Google Shape;146;p17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>
            <a:spLocks noGrp="1"/>
          </p:cNvSpPr>
          <p:nvPr>
            <p:ph type="title"/>
          </p:nvPr>
        </p:nvSpPr>
        <p:spPr>
          <a:xfrm>
            <a:off x="710946" y="512064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lang="en-US" dirty="0"/>
              <a:t>OBJECTIVES</a:t>
            </a:r>
            <a:endParaRPr dirty="0"/>
          </a:p>
        </p:txBody>
      </p:sp>
      <p:sp>
        <p:nvSpPr>
          <p:cNvPr id="152" name="Google Shape;152;p18"/>
          <p:cNvSpPr txBox="1"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indent="-182880">
              <a:spcBef>
                <a:spcPts val="0"/>
              </a:spcBef>
              <a:buSzPts val="1700"/>
            </a:pPr>
            <a:r>
              <a:rPr lang="en-US" b="1" dirty="0"/>
              <a:t>Objective 1</a:t>
            </a:r>
            <a:r>
              <a:rPr lang="en-US" dirty="0"/>
              <a:t>: </a:t>
            </a:r>
            <a:r>
              <a:rPr lang="en-IN" dirty="0"/>
              <a:t>Extract primary discussion topics using Basic LDA.</a:t>
            </a:r>
          </a:p>
          <a:p>
            <a:pPr marL="182880" indent="-182880">
              <a:buSzPts val="1700"/>
            </a:pPr>
            <a:r>
              <a:rPr lang="en-US" b="1" dirty="0"/>
              <a:t>Objective 2</a:t>
            </a:r>
            <a:r>
              <a:rPr lang="en-US" dirty="0"/>
              <a:t>: </a:t>
            </a:r>
            <a:r>
              <a:rPr lang="en-IN" dirty="0"/>
              <a:t>Identify limitations and noise in extracted topics.</a:t>
            </a:r>
          </a:p>
          <a:p>
            <a:pPr marL="182880" indent="-182880">
              <a:buSzPts val="1700"/>
            </a:pPr>
            <a:r>
              <a:rPr lang="en-US" b="1" dirty="0"/>
              <a:t>Objective 3</a:t>
            </a:r>
            <a:r>
              <a:rPr lang="en-US" dirty="0"/>
              <a:t>: </a:t>
            </a:r>
            <a:r>
              <a:rPr lang="en-IN" dirty="0"/>
              <a:t>Research and list advanced methods to improve LDA.</a:t>
            </a:r>
          </a:p>
          <a:p>
            <a:pPr marL="182880" indent="-182880">
              <a:buSzPts val="1700"/>
            </a:pPr>
            <a:r>
              <a:rPr lang="en-US" b="1" dirty="0"/>
              <a:t>Objective 4</a:t>
            </a:r>
            <a:r>
              <a:rPr lang="en-US" dirty="0"/>
              <a:t>: </a:t>
            </a:r>
            <a:r>
              <a:rPr lang="en-IN" dirty="0"/>
              <a:t>Understand multilingual aspects (English + Arabic content).</a:t>
            </a:r>
          </a:p>
          <a:p>
            <a:pPr marL="182880" lvl="0" indent="-182880">
              <a:buSzPts val="1700"/>
            </a:pPr>
            <a:r>
              <a:rPr lang="en-US" b="1" dirty="0"/>
              <a:t>Objective 5: </a:t>
            </a:r>
            <a:r>
              <a:rPr lang="en-IN" dirty="0"/>
              <a:t>Prepare a roadmap for implementing improved topic modelling.</a:t>
            </a:r>
            <a:endParaRPr dirty="0"/>
          </a:p>
          <a:p>
            <a:pPr marL="182880" lvl="0" indent="-7492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pic>
        <p:nvPicPr>
          <p:cNvPr id="153" name="Google Shape;153;p18" descr="4e0e733da1-nitj-jalandha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1828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155" name="Google Shape;155;p18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title"/>
          </p:nvPr>
        </p:nvSpPr>
        <p:spPr>
          <a:xfrm>
            <a:off x="259228" y="160146"/>
            <a:ext cx="7199407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400" dirty="0"/>
              <a:t>System Architecture Diagram</a:t>
            </a:r>
          </a:p>
        </p:txBody>
      </p:sp>
      <p:pic>
        <p:nvPicPr>
          <p:cNvPr id="215" name="Google Shape;215;p25" descr="4e0e733da1-nitj-jalandha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5824" y="3479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217" name="Google Shape;217;p25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7952CC-A386-CAD0-05F8-4ED5205D4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382" y="1679109"/>
            <a:ext cx="4881236" cy="48812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708C12DF-9BE8-5184-480B-7C5C1F9BA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>
            <a:extLst>
              <a:ext uri="{FF2B5EF4-FFF2-40B4-BE49-F238E27FC236}">
                <a16:creationId xmlns:a16="http://schemas.microsoft.com/office/drawing/2014/main" id="{C787FA6C-6C89-BE44-F017-E240B1893B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0" y="-411653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161" name="Google Shape;161;p19">
            <a:extLst>
              <a:ext uri="{FF2B5EF4-FFF2-40B4-BE49-F238E27FC236}">
                <a16:creationId xmlns:a16="http://schemas.microsoft.com/office/drawing/2014/main" id="{93BE6BB0-8825-5E0C-3BBF-4A0E0E1863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296" y="1097280"/>
            <a:ext cx="8823960" cy="580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br>
              <a:rPr lang="en-US" dirty="0"/>
            </a:br>
            <a:endParaRPr dirty="0"/>
          </a:p>
        </p:txBody>
      </p:sp>
      <p:pic>
        <p:nvPicPr>
          <p:cNvPr id="162" name="Google Shape;162;p19" descr="4e0e733da1-nitj-jalandhar.png">
            <a:extLst>
              <a:ext uri="{FF2B5EF4-FFF2-40B4-BE49-F238E27FC236}">
                <a16:creationId xmlns:a16="http://schemas.microsoft.com/office/drawing/2014/main" id="{D46EA821-AD7A-A3AE-1FC8-2939079FC9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1828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>
            <a:extLst>
              <a:ext uri="{FF2B5EF4-FFF2-40B4-BE49-F238E27FC236}">
                <a16:creationId xmlns:a16="http://schemas.microsoft.com/office/drawing/2014/main" id="{D9A49A50-4522-DBD6-F102-3DA1348F229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164" name="Google Shape;164;p19">
            <a:extLst>
              <a:ext uri="{FF2B5EF4-FFF2-40B4-BE49-F238E27FC236}">
                <a16:creationId xmlns:a16="http://schemas.microsoft.com/office/drawing/2014/main" id="{982AA7B5-4F0E-21CC-7165-2DBD13FCD2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7</a:t>
            </a:r>
            <a:endParaRPr dirty="0"/>
          </a:p>
        </p:txBody>
      </p:sp>
      <p:sp>
        <p:nvSpPr>
          <p:cNvPr id="165" name="Google Shape;165;p19">
            <a:extLst>
              <a:ext uri="{FF2B5EF4-FFF2-40B4-BE49-F238E27FC236}">
                <a16:creationId xmlns:a16="http://schemas.microsoft.com/office/drawing/2014/main" id="{8A3962DB-3B8D-7375-4DA6-409CE23C31EB}"/>
              </a:ext>
            </a:extLst>
          </p:cNvPr>
          <p:cNvSpPr txBox="1"/>
          <p:nvPr/>
        </p:nvSpPr>
        <p:spPr>
          <a:xfrm>
            <a:off x="131445" y="1197691"/>
            <a:ext cx="8881110" cy="5109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 Data Collection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taken from Dark Web Project Portal, University of Arizona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https://www.azsecure-data.org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7 Dark Web Forum Dataset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(Somali/Arabic/English), noisy, unstructured text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files, cleaned formatting, created metadata</a:t>
            </a:r>
          </a:p>
          <a:p>
            <a:pPr lvl="0">
              <a:spcBef>
                <a:spcPts val="150"/>
              </a:spcBef>
              <a:spcAft>
                <a:spcPts val="150"/>
              </a:spcAft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150"/>
              </a:spcBef>
              <a:spcAft>
                <a:spcPts val="150"/>
              </a:spcAft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 Data Pre-processing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detection (Somali / Arabic / English)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removal: URLs, symbols, HTML, numbers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normalization: lowercasing, punctuation cleanup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+ lemmatization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English + Somali + Arabic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translation for Arabic posts (if required)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Convert raw dark-web text into clean, analysable tokens.</a:t>
            </a:r>
          </a:p>
        </p:txBody>
      </p:sp>
    </p:spTree>
    <p:extLst>
      <p:ext uri="{BB962C8B-B14F-4D97-AF65-F5344CB8AC3E}">
        <p14:creationId xmlns:p14="http://schemas.microsoft.com/office/powerpoint/2010/main" val="258939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171" name="Google Shape;171;p20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</a:t>
            </a:r>
            <a:endParaRPr dirty="0"/>
          </a:p>
        </p:txBody>
      </p:sp>
      <p:sp>
        <p:nvSpPr>
          <p:cNvPr id="172" name="Google Shape;172;p20"/>
          <p:cNvSpPr txBox="1"/>
          <p:nvPr/>
        </p:nvSpPr>
        <p:spPr>
          <a:xfrm>
            <a:off x="180594" y="220090"/>
            <a:ext cx="8780526" cy="6176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3: Baseline Topic Modelling (Basic LDA)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Dictionary + Bag-of-Words corpus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TF–IDF filtering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LDA with topic numbers: 10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Coherence Score</a:t>
            </a:r>
          </a:p>
          <a:p>
            <a:pPr marL="17145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Coherence ≈ 0.41–0.45 (low)</a:t>
            </a:r>
          </a:p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Heavy keyword overlap</a:t>
            </a:r>
          </a:p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Topics not clearly separated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Establish a baseline for topic extraction.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4: Topic Interpretation &amp; Visualization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of topic keywords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major themes:</a:t>
            </a:r>
          </a:p>
          <a:p>
            <a:pPr lvl="3">
              <a:spcBef>
                <a:spcPts val="150"/>
              </a:spcBef>
              <a:spcAft>
                <a:spcPts val="15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Propaganda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Militant activity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Security/political discussions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Ideological content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pyLDAvis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topic visualization</a:t>
            </a:r>
          </a:p>
          <a:p>
            <a:pPr marL="171450" lvl="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word clouds and topic-frequency plots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>
            <a:spLocks noGrp="1"/>
          </p:cNvSpPr>
          <p:nvPr>
            <p:ph type="dt" idx="10"/>
          </p:nvPr>
        </p:nvSpPr>
        <p:spPr>
          <a:xfrm>
            <a:off x="6320365" y="6299347"/>
            <a:ext cx="2098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125" tIns="39075" rIns="78125" bIns="39075" anchor="ctr" anchorCtr="0">
            <a:noAutofit/>
          </a:bodyPr>
          <a:lstStyle/>
          <a:p>
            <a:pPr lvl="0"/>
            <a:r>
              <a:rPr lang="en-US" sz="1200" dirty="0"/>
              <a:t>25/11/2025</a:t>
            </a:r>
          </a:p>
        </p:txBody>
      </p:sp>
      <p:sp>
        <p:nvSpPr>
          <p:cNvPr id="185" name="Google Shape;185;p22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2309699" y="5945986"/>
            <a:ext cx="4524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600" dirty="0">
                <a:solidFill>
                  <a:schemeClr val="dk1"/>
                </a:solidFill>
                <a:latin typeface="Rockwell" panose="02060603020205020403" pitchFamily="18" charset="0"/>
                <a:ea typeface="Rockwell"/>
                <a:cs typeface="Rockwell"/>
                <a:sym typeface="Rockwell"/>
              </a:rPr>
              <a:t>Fig. 1 </a:t>
            </a:r>
            <a:r>
              <a:rPr lang="en-US" sz="1600" dirty="0">
                <a:latin typeface="Rockwell" panose="02060603020205020403" pitchFamily="18" charset="0"/>
              </a:rPr>
              <a:t>Dark Web Topic Modelling Workflow</a:t>
            </a:r>
            <a:endParaRPr sz="1600" dirty="0">
              <a:solidFill>
                <a:schemeClr val="dk1"/>
              </a:solidFill>
              <a:latin typeface="Rockwell" panose="02060603020205020403" pitchFamily="18" charset="0"/>
              <a:ea typeface="Rockwell"/>
              <a:cs typeface="Rockwell"/>
              <a:sym typeface="Rockwel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Rockwell" panose="02060603020205020403" pitchFamily="18" charset="0"/>
              <a:ea typeface="Rockwell"/>
              <a:cs typeface="Rockwell"/>
              <a:sym typeface="Rockwel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687BB-BD5E-A25A-0C94-4DDF4B076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575" y="363218"/>
            <a:ext cx="4054849" cy="5298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F1B60631-6D8E-F143-53F3-2EBAB0278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>
            <a:extLst>
              <a:ext uri="{FF2B5EF4-FFF2-40B4-BE49-F238E27FC236}">
                <a16:creationId xmlns:a16="http://schemas.microsoft.com/office/drawing/2014/main" id="{80A034D6-5E57-400A-E7C4-20963416DC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228" y="160146"/>
            <a:ext cx="6500159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IN" sz="4400" dirty="0"/>
              <a:t>Basic LDA Implementation </a:t>
            </a:r>
            <a:br>
              <a:rPr lang="en-IN" sz="4400" dirty="0"/>
            </a:br>
            <a:r>
              <a:rPr lang="en-IN" sz="4400" dirty="0"/>
              <a:t>(Ansar1 Dataset)</a:t>
            </a:r>
          </a:p>
        </p:txBody>
      </p:sp>
      <p:sp>
        <p:nvSpPr>
          <p:cNvPr id="214" name="Google Shape;214;p25">
            <a:extLst>
              <a:ext uri="{FF2B5EF4-FFF2-40B4-BE49-F238E27FC236}">
                <a16:creationId xmlns:a16="http://schemas.microsoft.com/office/drawing/2014/main" id="{8CDC1CE4-D3FB-D231-AB4D-FF22B3696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9224" y="1841500"/>
            <a:ext cx="8594725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131445" indent="0">
              <a:buNone/>
            </a:pPr>
            <a:r>
              <a:rPr lang="en-IN" b="1" dirty="0"/>
              <a:t>LDA Input</a:t>
            </a:r>
          </a:p>
          <a:p>
            <a:r>
              <a:rPr lang="en-IN" b="1" dirty="0"/>
              <a:t>Dataset:</a:t>
            </a:r>
            <a:r>
              <a:rPr lang="en-IN" dirty="0"/>
              <a:t> Ansar1 dark-web forum dump</a:t>
            </a:r>
          </a:p>
          <a:p>
            <a:r>
              <a:rPr lang="en-IN" b="1" dirty="0"/>
              <a:t>Documents processed:</a:t>
            </a:r>
            <a:r>
              <a:rPr lang="en-IN" dirty="0"/>
              <a:t> ~28,800</a:t>
            </a:r>
          </a:p>
          <a:p>
            <a:r>
              <a:rPr lang="en-IN" b="1" dirty="0"/>
              <a:t>Vocabulary size:</a:t>
            </a:r>
            <a:r>
              <a:rPr lang="en-IN" dirty="0"/>
              <a:t> ~6,500 cleaned tokens</a:t>
            </a:r>
          </a:p>
          <a:p>
            <a:r>
              <a:rPr lang="en-IN" b="1" dirty="0"/>
              <a:t>Training passes:</a:t>
            </a:r>
            <a:r>
              <a:rPr lang="en-IN" dirty="0"/>
              <a:t> 20</a:t>
            </a:r>
          </a:p>
          <a:p>
            <a:r>
              <a:rPr lang="en-IN" b="1" dirty="0"/>
              <a:t>Iterations:</a:t>
            </a:r>
            <a:r>
              <a:rPr lang="en-IN" dirty="0"/>
              <a:t> 400</a:t>
            </a:r>
          </a:p>
          <a:p>
            <a:r>
              <a:rPr lang="en-IN" b="1" dirty="0"/>
              <a:t>Topic numbers tested:</a:t>
            </a:r>
            <a:r>
              <a:rPr lang="en-IN" dirty="0"/>
              <a:t> 10</a:t>
            </a:r>
          </a:p>
          <a:p>
            <a:pPr marL="131445" indent="0">
              <a:buNone/>
            </a:pPr>
            <a:r>
              <a:rPr lang="en-IN" b="1" dirty="0"/>
              <a:t>Outputs Observed</a:t>
            </a:r>
          </a:p>
          <a:p>
            <a:r>
              <a:rPr lang="en-IN" b="1" dirty="0"/>
              <a:t>Best coherence score:</a:t>
            </a:r>
            <a:r>
              <a:rPr lang="en-IN" dirty="0"/>
              <a:t> </a:t>
            </a:r>
            <a:r>
              <a:rPr lang="en-IN" i="1" dirty="0"/>
              <a:t>~0.41–0.45</a:t>
            </a:r>
            <a:r>
              <a:rPr lang="en-IN" dirty="0"/>
              <a:t> (low for short/noisy text)</a:t>
            </a:r>
          </a:p>
          <a:p>
            <a:r>
              <a:rPr lang="en-IN" b="1" dirty="0"/>
              <a:t>Keyword overlap:</a:t>
            </a:r>
            <a:r>
              <a:rPr lang="en-IN" dirty="0"/>
              <a:t> High (same words repeating in many topics)</a:t>
            </a:r>
          </a:p>
          <a:p>
            <a:r>
              <a:rPr lang="en-IN" b="1" dirty="0"/>
              <a:t>Language noise:</a:t>
            </a:r>
            <a:r>
              <a:rPr lang="en-IN" dirty="0"/>
              <a:t> Somali terms dominating multiple topics</a:t>
            </a:r>
          </a:p>
          <a:p>
            <a:r>
              <a:rPr lang="en-IN" b="1" dirty="0"/>
              <a:t>Frequent high-weight words:</a:t>
            </a:r>
            <a:r>
              <a:rPr lang="en-IN" dirty="0"/>
              <a:t> </a:t>
            </a:r>
            <a:r>
              <a:rPr lang="en-IN" i="1" dirty="0"/>
              <a:t>“</a:t>
            </a:r>
            <a:r>
              <a:rPr lang="en-IN" i="1" dirty="0" err="1"/>
              <a:t>somalia</a:t>
            </a:r>
            <a:r>
              <a:rPr lang="en-IN" i="1" dirty="0"/>
              <a:t>”, “</a:t>
            </a:r>
            <a:r>
              <a:rPr lang="en-IN" i="1" dirty="0" err="1"/>
              <a:t>somali</a:t>
            </a:r>
            <a:r>
              <a:rPr lang="en-IN" i="1" dirty="0"/>
              <a:t>”, “attack”, “group”, “security”, “military”, “</a:t>
            </a:r>
            <a:r>
              <a:rPr lang="en-IN" i="1" dirty="0" err="1"/>
              <a:t>al-shabaab</a:t>
            </a:r>
            <a:r>
              <a:rPr lang="en-IN" i="1" dirty="0"/>
              <a:t>”</a:t>
            </a:r>
            <a:endParaRPr lang="en-IN" dirty="0"/>
          </a:p>
          <a:p>
            <a:pPr marL="131445" indent="0">
              <a:buNone/>
            </a:pPr>
            <a:r>
              <a:rPr lang="en-IN" b="1" dirty="0"/>
              <a:t>Sample Topics Detected</a:t>
            </a:r>
          </a:p>
          <a:p>
            <a:r>
              <a:rPr lang="en-IN" b="1" dirty="0"/>
              <a:t>Militant group discussions (Al-Shabaab, Somalia)</a:t>
            </a:r>
            <a:endParaRPr lang="en-IN" dirty="0"/>
          </a:p>
          <a:p>
            <a:r>
              <a:rPr lang="en-IN" b="1" dirty="0"/>
              <a:t>Regional conflicts &amp; security updates</a:t>
            </a:r>
            <a:endParaRPr lang="en-IN" dirty="0"/>
          </a:p>
          <a:p>
            <a:r>
              <a:rPr lang="en-IN" b="1" dirty="0"/>
              <a:t>Political commentary</a:t>
            </a:r>
            <a:endParaRPr lang="en-IN" dirty="0"/>
          </a:p>
          <a:p>
            <a:r>
              <a:rPr lang="en-IN" b="1" dirty="0"/>
              <a:t>Propaganda / ideological narratives</a:t>
            </a:r>
            <a:endParaRPr lang="en-IN" dirty="0"/>
          </a:p>
        </p:txBody>
      </p:sp>
      <p:pic>
        <p:nvPicPr>
          <p:cNvPr id="215" name="Google Shape;215;p25" descr="4e0e733da1-nitj-jalandhar.png">
            <a:extLst>
              <a:ext uri="{FF2B5EF4-FFF2-40B4-BE49-F238E27FC236}">
                <a16:creationId xmlns:a16="http://schemas.microsoft.com/office/drawing/2014/main" id="{ADAEDB28-78C4-9A84-92CF-29DE4C4785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5824" y="3479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>
            <a:extLst>
              <a:ext uri="{FF2B5EF4-FFF2-40B4-BE49-F238E27FC236}">
                <a16:creationId xmlns:a16="http://schemas.microsoft.com/office/drawing/2014/main" id="{B660806A-CF5C-E10D-E723-85E47AB23AE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217" name="Google Shape;217;p25">
            <a:extLst>
              <a:ext uri="{FF2B5EF4-FFF2-40B4-BE49-F238E27FC236}">
                <a16:creationId xmlns:a16="http://schemas.microsoft.com/office/drawing/2014/main" id="{AD2C5666-409A-B077-FC6C-82BE43D972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8354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273F2A36-611C-E7E0-5CD8-CCAFDF66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>
            <a:extLst>
              <a:ext uri="{FF2B5EF4-FFF2-40B4-BE49-F238E27FC236}">
                <a16:creationId xmlns:a16="http://schemas.microsoft.com/office/drawing/2014/main" id="{DA5AD63C-ADF2-6CE3-D299-0EE66A297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228" y="160146"/>
            <a:ext cx="6500159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IN" sz="4400" dirty="0"/>
              <a:t>Basic LDA Implementation </a:t>
            </a:r>
            <a:br>
              <a:rPr lang="en-IN" sz="4400" dirty="0"/>
            </a:br>
            <a:r>
              <a:rPr lang="en-IN" sz="4400" dirty="0"/>
              <a:t>(Ansar1 Dataset)</a:t>
            </a:r>
          </a:p>
        </p:txBody>
      </p:sp>
      <p:sp>
        <p:nvSpPr>
          <p:cNvPr id="214" name="Google Shape;214;p25">
            <a:extLst>
              <a:ext uri="{FF2B5EF4-FFF2-40B4-BE49-F238E27FC236}">
                <a16:creationId xmlns:a16="http://schemas.microsoft.com/office/drawing/2014/main" id="{6812E6E9-B52B-DDAC-1247-0B39E89531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9224" y="1841500"/>
            <a:ext cx="8594725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1445" indent="0">
              <a:buNone/>
            </a:pPr>
            <a:r>
              <a:rPr lang="en-IN" sz="1400" dirty="0"/>
              <a:t>LDA Topic Modelling Results</a:t>
            </a:r>
          </a:p>
        </p:txBody>
      </p:sp>
      <p:pic>
        <p:nvPicPr>
          <p:cNvPr id="215" name="Google Shape;215;p25" descr="4e0e733da1-nitj-jalandhar.png">
            <a:extLst>
              <a:ext uri="{FF2B5EF4-FFF2-40B4-BE49-F238E27FC236}">
                <a16:creationId xmlns:a16="http://schemas.microsoft.com/office/drawing/2014/main" id="{57A19DB2-5A09-9E3E-1EBE-2BD126B70B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5824" y="3479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>
            <a:extLst>
              <a:ext uri="{FF2B5EF4-FFF2-40B4-BE49-F238E27FC236}">
                <a16:creationId xmlns:a16="http://schemas.microsoft.com/office/drawing/2014/main" id="{14FF3A03-0DB9-0143-75D1-EDA27F4D87A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217" name="Google Shape;217;p25">
            <a:extLst>
              <a:ext uri="{FF2B5EF4-FFF2-40B4-BE49-F238E27FC236}">
                <a16:creationId xmlns:a16="http://schemas.microsoft.com/office/drawing/2014/main" id="{153151B1-C284-C1D4-A49C-9B79AF1783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11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BB7CC6-8591-721F-25B9-6EBC79657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80" y="2302140"/>
            <a:ext cx="8175812" cy="1067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A94A74-0313-3E77-10FD-192DEFCC2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680" y="3488541"/>
            <a:ext cx="3437987" cy="307735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E6B1D4-1B3E-0DF7-0195-56DCBC0291D1}"/>
              </a:ext>
            </a:extLst>
          </p:cNvPr>
          <p:cNvCxnSpPr>
            <a:cxnSpLocks/>
          </p:cNvCxnSpPr>
          <p:nvPr/>
        </p:nvCxnSpPr>
        <p:spPr>
          <a:xfrm flipH="1">
            <a:off x="2415558" y="5298143"/>
            <a:ext cx="1766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F62DF6-D2E7-1FE2-140C-9C98F5B4CCEF}"/>
              </a:ext>
            </a:extLst>
          </p:cNvPr>
          <p:cNvCxnSpPr>
            <a:cxnSpLocks/>
          </p:cNvCxnSpPr>
          <p:nvPr/>
        </p:nvCxnSpPr>
        <p:spPr>
          <a:xfrm flipH="1">
            <a:off x="2621746" y="4419602"/>
            <a:ext cx="1766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833D7E-C42A-0275-FD8B-A9EEEB2AAB3F}"/>
              </a:ext>
            </a:extLst>
          </p:cNvPr>
          <p:cNvSpPr txBox="1"/>
          <p:nvPr/>
        </p:nvSpPr>
        <p:spPr>
          <a:xfrm>
            <a:off x="5347335" y="3577136"/>
            <a:ext cx="15151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Extracted Topics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D28536-29CC-C5DC-5662-7D27DF04A612}"/>
              </a:ext>
            </a:extLst>
          </p:cNvPr>
          <p:cNvSpPr txBox="1"/>
          <p:nvPr/>
        </p:nvSpPr>
        <p:spPr>
          <a:xfrm>
            <a:off x="6315190" y="4092348"/>
            <a:ext cx="2375971" cy="1869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/>
              <a:t>Custom Topic Labels Used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50" dirty="0"/>
              <a:t>Somalia &amp; </a:t>
            </a:r>
            <a:r>
              <a:rPr lang="en-IN" sz="1050" dirty="0" err="1"/>
              <a:t>Shabaab</a:t>
            </a:r>
            <a:r>
              <a:rPr lang="en-IN" sz="1050" dirty="0"/>
              <a:t> News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50" dirty="0"/>
              <a:t>Gen	</a:t>
            </a:r>
            <a:r>
              <a:rPr lang="en-IN" sz="1050" dirty="0" err="1"/>
              <a:t>eral</a:t>
            </a:r>
            <a:r>
              <a:rPr lang="en-IN" sz="1050" dirty="0"/>
              <a:t> Islamic Topics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50" dirty="0"/>
              <a:t>Pakistan &amp; Taliban Conflict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50" dirty="0"/>
              <a:t>Israel–Palestine Conflict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50" dirty="0"/>
              <a:t>Iraq Conflict &amp; Attacks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50" dirty="0"/>
              <a:t>Personal / Court Cases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50" dirty="0"/>
              <a:t>Afghanistan Mujahideen Reports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50" dirty="0"/>
              <a:t>Global / Nuclear Weapons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50" dirty="0"/>
              <a:t>Forum Chat &amp; Religious Posts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50" dirty="0"/>
              <a:t>US / Afghanistan Policy (Obama)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B6CEF2-D1E3-CC09-D012-23BF07E7052E}"/>
              </a:ext>
            </a:extLst>
          </p:cNvPr>
          <p:cNvSpPr txBox="1"/>
          <p:nvPr/>
        </p:nvSpPr>
        <p:spPr>
          <a:xfrm>
            <a:off x="4387793" y="4292644"/>
            <a:ext cx="13362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Document Classification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2763F84-3430-166A-AFBC-B6DAA81EFBC3}"/>
              </a:ext>
            </a:extLst>
          </p:cNvPr>
          <p:cNvCxnSpPr>
            <a:cxnSpLocks/>
            <a:endCxn id="3" idx="2"/>
          </p:cNvCxnSpPr>
          <p:nvPr/>
        </p:nvCxnSpPr>
        <p:spPr>
          <a:xfrm rot="10800000">
            <a:off x="4446587" y="3369460"/>
            <a:ext cx="900749" cy="3504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7B24064-941D-6466-959E-749BD59D5B27}"/>
              </a:ext>
            </a:extLst>
          </p:cNvPr>
          <p:cNvSpPr txBox="1"/>
          <p:nvPr/>
        </p:nvSpPr>
        <p:spPr>
          <a:xfrm>
            <a:off x="4181605" y="5125680"/>
            <a:ext cx="13362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Distribution Across 28,866 Posts</a:t>
            </a:r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499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B5183E34-AB70-808F-2F04-99336C55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>
            <a:extLst>
              <a:ext uri="{FF2B5EF4-FFF2-40B4-BE49-F238E27FC236}">
                <a16:creationId xmlns:a16="http://schemas.microsoft.com/office/drawing/2014/main" id="{2259EFDC-0678-A5CD-3DCD-7481277565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145795"/>
            <a:ext cx="6119876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4400" dirty="0"/>
              <a:t>Issues Observed (Basic LDA Limitations)</a:t>
            </a:r>
          </a:p>
        </p:txBody>
      </p:sp>
      <p:sp>
        <p:nvSpPr>
          <p:cNvPr id="214" name="Google Shape;214;p25">
            <a:extLst>
              <a:ext uri="{FF2B5EF4-FFF2-40B4-BE49-F238E27FC236}">
                <a16:creationId xmlns:a16="http://schemas.microsoft.com/office/drawing/2014/main" id="{ADC59861-9BB9-E03A-F0FC-EBEE4CF2F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9225" y="2248917"/>
            <a:ext cx="4430776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1445" indent="0">
              <a:buNone/>
            </a:pPr>
            <a:r>
              <a:rPr lang="en-IN" b="1" dirty="0"/>
              <a:t>Technical Shortcomings</a:t>
            </a:r>
          </a:p>
          <a:p>
            <a:r>
              <a:rPr lang="en-IN" dirty="0"/>
              <a:t>Low coherence (&lt;0.50)</a:t>
            </a:r>
          </a:p>
          <a:p>
            <a:r>
              <a:rPr lang="en-IN" dirty="0"/>
              <a:t>High topic overlap</a:t>
            </a:r>
          </a:p>
          <a:p>
            <a:r>
              <a:rPr lang="en-IN" dirty="0"/>
              <a:t>Inability to capture short-message context</a:t>
            </a:r>
          </a:p>
          <a:p>
            <a:r>
              <a:rPr lang="en-IN" dirty="0"/>
              <a:t>No support for Arabic text (approx. 15-20% of data ignored)</a:t>
            </a:r>
          </a:p>
        </p:txBody>
      </p:sp>
      <p:pic>
        <p:nvPicPr>
          <p:cNvPr id="215" name="Google Shape;215;p25" descr="4e0e733da1-nitj-jalandhar.png">
            <a:extLst>
              <a:ext uri="{FF2B5EF4-FFF2-40B4-BE49-F238E27FC236}">
                <a16:creationId xmlns:a16="http://schemas.microsoft.com/office/drawing/2014/main" id="{72BCCAB9-A78D-93EA-91C8-B3785A0354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5824" y="3479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>
            <a:extLst>
              <a:ext uri="{FF2B5EF4-FFF2-40B4-BE49-F238E27FC236}">
                <a16:creationId xmlns:a16="http://schemas.microsoft.com/office/drawing/2014/main" id="{6BABFFE8-F338-65A8-FA95-E224500798F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217" name="Google Shape;217;p25">
            <a:extLst>
              <a:ext uri="{FF2B5EF4-FFF2-40B4-BE49-F238E27FC236}">
                <a16:creationId xmlns:a16="http://schemas.microsoft.com/office/drawing/2014/main" id="{009BE390-4D60-B9B6-3DB8-AA78EFAFF3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</a:t>
            </a:r>
            <a:endParaRPr/>
          </a:p>
        </p:txBody>
      </p:sp>
      <p:sp>
        <p:nvSpPr>
          <p:cNvPr id="6" name="Google Shape;214;p25">
            <a:extLst>
              <a:ext uri="{FF2B5EF4-FFF2-40B4-BE49-F238E27FC236}">
                <a16:creationId xmlns:a16="http://schemas.microsoft.com/office/drawing/2014/main" id="{311FF570-3211-1F9A-F5DA-6E1CD64445A9}"/>
              </a:ext>
            </a:extLst>
          </p:cNvPr>
          <p:cNvSpPr txBox="1">
            <a:spLocks/>
          </p:cNvSpPr>
          <p:nvPr/>
        </p:nvSpPr>
        <p:spPr>
          <a:xfrm>
            <a:off x="4563999" y="2288034"/>
            <a:ext cx="4430776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5755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25754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131445" indent="0">
              <a:buNone/>
            </a:pPr>
            <a:r>
              <a:rPr lang="en-IN" b="1" dirty="0"/>
              <a:t>Dark Web–Specific Challenges</a:t>
            </a:r>
          </a:p>
          <a:p>
            <a:r>
              <a:rPr lang="en-IN" dirty="0"/>
              <a:t>Slang: </a:t>
            </a:r>
            <a:r>
              <a:rPr lang="en-IN" i="1" dirty="0"/>
              <a:t>cc dump, logs, </a:t>
            </a:r>
            <a:r>
              <a:rPr lang="en-IN" i="1" dirty="0" err="1"/>
              <a:t>fullz</a:t>
            </a:r>
            <a:r>
              <a:rPr lang="en-IN" i="1" dirty="0"/>
              <a:t>, </a:t>
            </a:r>
            <a:r>
              <a:rPr lang="en-IN" i="1" dirty="0" err="1"/>
              <a:t>botshop</a:t>
            </a:r>
            <a:endParaRPr lang="en-IN" dirty="0"/>
          </a:p>
          <a:p>
            <a:r>
              <a:rPr lang="en-IN" dirty="0"/>
              <a:t>Obfuscation: deliberate misspellings</a:t>
            </a:r>
          </a:p>
          <a:p>
            <a:r>
              <a:rPr lang="en-IN" dirty="0"/>
              <a:t>Domain-specific </a:t>
            </a:r>
            <a:r>
              <a:rPr lang="en-IN" dirty="0" err="1"/>
              <a:t>stopwords</a:t>
            </a:r>
            <a:r>
              <a:rPr lang="en-IN" dirty="0"/>
              <a:t> needed</a:t>
            </a:r>
          </a:p>
        </p:txBody>
      </p:sp>
    </p:spTree>
    <p:extLst>
      <p:ext uri="{BB962C8B-B14F-4D97-AF65-F5344CB8AC3E}">
        <p14:creationId xmlns:p14="http://schemas.microsoft.com/office/powerpoint/2010/main" val="348047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F5C7E1FE-B6C0-40A5-86A7-ECEB90AC0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>
            <a:extLst>
              <a:ext uri="{FF2B5EF4-FFF2-40B4-BE49-F238E27FC236}">
                <a16:creationId xmlns:a16="http://schemas.microsoft.com/office/drawing/2014/main" id="{9A871C7E-7DC6-D530-6EF4-63C2B9A352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-16459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/>
              <a:t>Proposed Improvements </a:t>
            </a:r>
          </a:p>
        </p:txBody>
      </p:sp>
      <p:sp>
        <p:nvSpPr>
          <p:cNvPr id="161" name="Google Shape;161;p19">
            <a:extLst>
              <a:ext uri="{FF2B5EF4-FFF2-40B4-BE49-F238E27FC236}">
                <a16:creationId xmlns:a16="http://schemas.microsoft.com/office/drawing/2014/main" id="{39E758F8-410B-5C51-D883-9769283AB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296" y="1097280"/>
            <a:ext cx="8823960" cy="580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br>
              <a:rPr lang="en-US" dirty="0"/>
            </a:br>
            <a:endParaRPr dirty="0"/>
          </a:p>
        </p:txBody>
      </p:sp>
      <p:pic>
        <p:nvPicPr>
          <p:cNvPr id="162" name="Google Shape;162;p19" descr="4e0e733da1-nitj-jalandhar.png">
            <a:extLst>
              <a:ext uri="{FF2B5EF4-FFF2-40B4-BE49-F238E27FC236}">
                <a16:creationId xmlns:a16="http://schemas.microsoft.com/office/drawing/2014/main" id="{2C1211AD-7DC1-5045-7F25-25285651FC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1828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>
            <a:extLst>
              <a:ext uri="{FF2B5EF4-FFF2-40B4-BE49-F238E27FC236}">
                <a16:creationId xmlns:a16="http://schemas.microsoft.com/office/drawing/2014/main" id="{4EE4F77E-11D8-1386-AAFD-0C909B9A6F8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164" name="Google Shape;164;p19">
            <a:extLst>
              <a:ext uri="{FF2B5EF4-FFF2-40B4-BE49-F238E27FC236}">
                <a16:creationId xmlns:a16="http://schemas.microsoft.com/office/drawing/2014/main" id="{2D8999E9-E574-9A53-FC89-9FD000F66C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13</a:t>
            </a:r>
            <a:endParaRPr dirty="0"/>
          </a:p>
        </p:txBody>
      </p:sp>
      <p:sp>
        <p:nvSpPr>
          <p:cNvPr id="165" name="Google Shape;165;p19">
            <a:extLst>
              <a:ext uri="{FF2B5EF4-FFF2-40B4-BE49-F238E27FC236}">
                <a16:creationId xmlns:a16="http://schemas.microsoft.com/office/drawing/2014/main" id="{7AB84820-B4BE-C98C-0AF6-7DCBC481845F}"/>
              </a:ext>
            </a:extLst>
          </p:cNvPr>
          <p:cNvSpPr txBox="1"/>
          <p:nvPr/>
        </p:nvSpPr>
        <p:spPr>
          <a:xfrm>
            <a:off x="331471" y="1350410"/>
            <a:ext cx="8391905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dirty="0">
                <a:latin typeface="Rockwell" panose="02060603020205020403" pitchFamily="18" charset="0"/>
              </a:rPr>
              <a:t>1. </a:t>
            </a:r>
            <a:r>
              <a:rPr lang="en-IN" sz="2000" b="1" dirty="0">
                <a:latin typeface="Rockwell" panose="02060603020205020403" pitchFamily="18" charset="0"/>
              </a:rPr>
              <a:t>Advanced NLP Preprocessing</a:t>
            </a: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Custom dark-web </a:t>
            </a:r>
            <a:r>
              <a:rPr lang="en-IN" sz="2000" dirty="0" err="1">
                <a:latin typeface="Rockwell" panose="02060603020205020403" pitchFamily="18" charset="0"/>
              </a:rPr>
              <a:t>stopwords</a:t>
            </a:r>
            <a:endParaRPr lang="en-IN" sz="2000" dirty="0">
              <a:latin typeface="Rockwell" panose="02060603020205020403" pitchFamily="18" charset="0"/>
            </a:endParaRP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Slang dictionary building</a:t>
            </a: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Eliminating repetitive marketplace templates</a:t>
            </a:r>
          </a:p>
          <a:p>
            <a:r>
              <a:rPr lang="en-IN" sz="2000" dirty="0">
                <a:latin typeface="Rockwell" panose="02060603020205020403" pitchFamily="18" charset="0"/>
              </a:rPr>
              <a:t>2. </a:t>
            </a:r>
            <a:r>
              <a:rPr lang="en-IN" sz="2000" b="1" dirty="0">
                <a:latin typeface="Rockwell" panose="02060603020205020403" pitchFamily="18" charset="0"/>
              </a:rPr>
              <a:t>N-Gram Modelling</a:t>
            </a: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Bigram and trigram detection</a:t>
            </a: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Capture phrases like:</a:t>
            </a:r>
            <a:br>
              <a:rPr lang="en-IN" sz="2000" dirty="0">
                <a:latin typeface="Rockwell" panose="02060603020205020403" pitchFamily="18" charset="0"/>
              </a:rPr>
            </a:br>
            <a:r>
              <a:rPr lang="en-IN" sz="2000" dirty="0">
                <a:latin typeface="Rockwell" panose="02060603020205020403" pitchFamily="18" charset="0"/>
              </a:rPr>
              <a:t>	“zero-day exploit”, “credit card dumps”, “malware kit”</a:t>
            </a:r>
          </a:p>
          <a:p>
            <a:r>
              <a:rPr lang="en-IN" sz="2000" dirty="0">
                <a:latin typeface="Rockwell" panose="02060603020205020403" pitchFamily="18" charset="0"/>
              </a:rPr>
              <a:t>3. </a:t>
            </a:r>
            <a:r>
              <a:rPr lang="en-IN" sz="2000" b="1" dirty="0">
                <a:latin typeface="Rockwell" panose="02060603020205020403" pitchFamily="18" charset="0"/>
              </a:rPr>
              <a:t>Hyperparameter Tuning</a:t>
            </a: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Optimize:</a:t>
            </a:r>
          </a:p>
          <a:p>
            <a:pPr lvl="1"/>
            <a:r>
              <a:rPr lang="en-IN" sz="2000" dirty="0">
                <a:latin typeface="Rockwell" panose="02060603020205020403" pitchFamily="18" charset="0"/>
              </a:rPr>
              <a:t>		- Number of topics</a:t>
            </a:r>
          </a:p>
          <a:p>
            <a:pPr lvl="1"/>
            <a:r>
              <a:rPr lang="en-IN" sz="2000" dirty="0">
                <a:latin typeface="Rockwell" panose="02060603020205020403" pitchFamily="18" charset="0"/>
              </a:rPr>
              <a:t>		- Alpha</a:t>
            </a:r>
          </a:p>
          <a:p>
            <a:pPr lvl="1"/>
            <a:r>
              <a:rPr lang="en-IN" sz="2000" dirty="0">
                <a:latin typeface="Rockwell" panose="02060603020205020403" pitchFamily="18" charset="0"/>
              </a:rPr>
              <a:t>		- Beta</a:t>
            </a:r>
          </a:p>
          <a:p>
            <a:pPr lvl="1"/>
            <a:r>
              <a:rPr lang="en-IN" sz="2000" dirty="0">
                <a:latin typeface="Rockwell" panose="02060603020205020403" pitchFamily="18" charset="0"/>
              </a:rPr>
              <a:t>		- Passes &amp; iterations</a:t>
            </a: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Select best model based on coherence score</a:t>
            </a:r>
          </a:p>
          <a:p>
            <a:endParaRPr lang="en-IN" sz="20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230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59145E12-CD4D-E8AE-DA07-E41BA61EC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>
            <a:extLst>
              <a:ext uri="{FF2B5EF4-FFF2-40B4-BE49-F238E27FC236}">
                <a16:creationId xmlns:a16="http://schemas.microsoft.com/office/drawing/2014/main" id="{858C6FE3-318F-C725-C63F-9A61C3F825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-16459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/>
              <a:t>Proposed Improvements </a:t>
            </a:r>
          </a:p>
        </p:txBody>
      </p:sp>
      <p:sp>
        <p:nvSpPr>
          <p:cNvPr id="161" name="Google Shape;161;p19">
            <a:extLst>
              <a:ext uri="{FF2B5EF4-FFF2-40B4-BE49-F238E27FC236}">
                <a16:creationId xmlns:a16="http://schemas.microsoft.com/office/drawing/2014/main" id="{DEC7B817-3CA3-3383-EA9B-2C6C06BB7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0594" y="1097280"/>
            <a:ext cx="8823960" cy="580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br>
              <a:rPr lang="en-US" dirty="0"/>
            </a:br>
            <a:endParaRPr dirty="0"/>
          </a:p>
        </p:txBody>
      </p:sp>
      <p:pic>
        <p:nvPicPr>
          <p:cNvPr id="162" name="Google Shape;162;p19" descr="4e0e733da1-nitj-jalandhar.png">
            <a:extLst>
              <a:ext uri="{FF2B5EF4-FFF2-40B4-BE49-F238E27FC236}">
                <a16:creationId xmlns:a16="http://schemas.microsoft.com/office/drawing/2014/main" id="{4E89FAED-BB37-4E0C-21D3-14156EFC09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1828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>
            <a:extLst>
              <a:ext uri="{FF2B5EF4-FFF2-40B4-BE49-F238E27FC236}">
                <a16:creationId xmlns:a16="http://schemas.microsoft.com/office/drawing/2014/main" id="{DA2CEB27-CD27-A719-7697-03B752E3109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164" name="Google Shape;164;p19">
            <a:extLst>
              <a:ext uri="{FF2B5EF4-FFF2-40B4-BE49-F238E27FC236}">
                <a16:creationId xmlns:a16="http://schemas.microsoft.com/office/drawing/2014/main" id="{80087320-E3B8-500A-125B-E6B40078BB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14</a:t>
            </a:r>
            <a:endParaRPr dirty="0"/>
          </a:p>
        </p:txBody>
      </p:sp>
      <p:sp>
        <p:nvSpPr>
          <p:cNvPr id="165" name="Google Shape;165;p19">
            <a:extLst>
              <a:ext uri="{FF2B5EF4-FFF2-40B4-BE49-F238E27FC236}">
                <a16:creationId xmlns:a16="http://schemas.microsoft.com/office/drawing/2014/main" id="{469BA0A7-433F-1452-057A-A451851CBAB1}"/>
              </a:ext>
            </a:extLst>
          </p:cNvPr>
          <p:cNvSpPr txBox="1"/>
          <p:nvPr/>
        </p:nvSpPr>
        <p:spPr>
          <a:xfrm>
            <a:off x="180594" y="1376044"/>
            <a:ext cx="8391905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dirty="0">
                <a:latin typeface="Rockwell" panose="02060603020205020403" pitchFamily="18" charset="0"/>
              </a:rPr>
              <a:t>4. </a:t>
            </a:r>
            <a:r>
              <a:rPr lang="en-IN" sz="2000" b="1" dirty="0">
                <a:latin typeface="Rockwell" panose="02060603020205020403" pitchFamily="18" charset="0"/>
              </a:rPr>
              <a:t>TF-IDF Based Vocabulary Filtering</a:t>
            </a: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Remove useless frequent words</a:t>
            </a: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Remove extremely rare terms</a:t>
            </a:r>
          </a:p>
          <a:p>
            <a:r>
              <a:rPr lang="en-IN" sz="2000" dirty="0">
                <a:latin typeface="Rockwell" panose="02060603020205020403" pitchFamily="18" charset="0"/>
              </a:rPr>
              <a:t>5. </a:t>
            </a:r>
            <a:r>
              <a:rPr lang="en-IN" sz="2000" b="1" dirty="0">
                <a:latin typeface="Rockwell" panose="02060603020205020403" pitchFamily="18" charset="0"/>
              </a:rPr>
              <a:t>Using Mallet LDA</a:t>
            </a: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Known to produce higher coherence values</a:t>
            </a:r>
          </a:p>
          <a:p>
            <a:r>
              <a:rPr lang="en-IN" sz="2000" dirty="0">
                <a:latin typeface="Rockwell" panose="02060603020205020403" pitchFamily="18" charset="0"/>
              </a:rPr>
              <a:t>6. </a:t>
            </a:r>
            <a:r>
              <a:rPr lang="en-IN" sz="2000" b="1" dirty="0">
                <a:latin typeface="Rockwell" panose="02060603020205020403" pitchFamily="18" charset="0"/>
              </a:rPr>
              <a:t>Document Length Normalization</a:t>
            </a: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Solve problems of short dark web posts</a:t>
            </a:r>
          </a:p>
          <a:p>
            <a:r>
              <a:rPr lang="en-IN" sz="2000" dirty="0">
                <a:latin typeface="Rockwell" panose="02060603020205020403" pitchFamily="18" charset="0"/>
              </a:rPr>
              <a:t>7.</a:t>
            </a:r>
            <a:r>
              <a:rPr lang="en-IN" sz="2000" b="1" dirty="0">
                <a:latin typeface="Rockwell" panose="02060603020205020403" pitchFamily="18" charset="0"/>
              </a:rPr>
              <a:t> Multilingual Topic Modelling</a:t>
            </a: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Dark web has Arabic posts related to extremist ideology, fraud, drug marketplaces</a:t>
            </a:r>
          </a:p>
          <a:p>
            <a:pPr lvl="0"/>
            <a:r>
              <a:rPr lang="en-IN" sz="2000" dirty="0">
                <a:latin typeface="Rockwell" panose="02060603020205020403" pitchFamily="18" charset="0"/>
              </a:rPr>
              <a:t>	- Proposed addition:</a:t>
            </a:r>
          </a:p>
          <a:p>
            <a:pPr lvl="1"/>
            <a:r>
              <a:rPr lang="en-IN" sz="2000" dirty="0">
                <a:latin typeface="Rockwell" panose="02060603020205020403" pitchFamily="18" charset="0"/>
              </a:rPr>
              <a:t>		- Arabic → English translation before LDA</a:t>
            </a:r>
          </a:p>
          <a:p>
            <a:pPr lvl="1"/>
            <a:r>
              <a:rPr lang="en-IN" sz="2000" dirty="0">
                <a:latin typeface="Rockwell" panose="02060603020205020403" pitchFamily="18" charset="0"/>
              </a:rPr>
              <a:t>		- Use </a:t>
            </a:r>
            <a:r>
              <a:rPr lang="en-IN" sz="2000" dirty="0" err="1">
                <a:latin typeface="Rockwell" panose="02060603020205020403" pitchFamily="18" charset="0"/>
              </a:rPr>
              <a:t>fastText</a:t>
            </a:r>
            <a:r>
              <a:rPr lang="en-IN" sz="2000" dirty="0">
                <a:latin typeface="Rockwell" panose="02060603020205020403" pitchFamily="18" charset="0"/>
              </a:rPr>
              <a:t> / </a:t>
            </a:r>
            <a:r>
              <a:rPr lang="en-IN" sz="2000" dirty="0" err="1">
                <a:latin typeface="Rockwell" panose="02060603020205020403" pitchFamily="18" charset="0"/>
              </a:rPr>
              <a:t>HuggingFace</a:t>
            </a:r>
            <a:r>
              <a:rPr lang="en-IN" sz="2000" dirty="0">
                <a:latin typeface="Rockwell" panose="02060603020205020403" pitchFamily="18" charset="0"/>
              </a:rPr>
              <a:t> for language detection</a:t>
            </a:r>
          </a:p>
          <a:p>
            <a:pPr lvl="1"/>
            <a:r>
              <a:rPr lang="en-IN" sz="2000" dirty="0">
                <a:latin typeface="Rockwell" panose="02060603020205020403" pitchFamily="18" charset="0"/>
              </a:rPr>
              <a:t>		- Multilingual embeddings for better clustering</a:t>
            </a:r>
          </a:p>
        </p:txBody>
      </p:sp>
    </p:spTree>
    <p:extLst>
      <p:ext uri="{BB962C8B-B14F-4D97-AF65-F5344CB8AC3E}">
        <p14:creationId xmlns:p14="http://schemas.microsoft.com/office/powerpoint/2010/main" val="3480529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314BEC0E-BDCE-B109-19DA-91A492A8F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>
            <a:extLst>
              <a:ext uri="{FF2B5EF4-FFF2-40B4-BE49-F238E27FC236}">
                <a16:creationId xmlns:a16="http://schemas.microsoft.com/office/drawing/2014/main" id="{8D8CBB01-693B-F904-CE28-E04C257542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76" y="182880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/>
              <a:t>Progress Till Now</a:t>
            </a:r>
          </a:p>
        </p:txBody>
      </p:sp>
      <p:sp>
        <p:nvSpPr>
          <p:cNvPr id="214" name="Google Shape;214;p25">
            <a:extLst>
              <a:ext uri="{FF2B5EF4-FFF2-40B4-BE49-F238E27FC236}">
                <a16:creationId xmlns:a16="http://schemas.microsoft.com/office/drawing/2014/main" id="{8E97DE32-FB4C-A168-EB03-71492E079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7132" y="1970024"/>
            <a:ext cx="4430776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1445" indent="0">
              <a:buNone/>
            </a:pPr>
            <a:r>
              <a:rPr lang="en-IN" sz="2300" b="1" dirty="0"/>
              <a:t>✔ Completed</a:t>
            </a:r>
          </a:p>
          <a:p>
            <a:r>
              <a:rPr lang="en-IN" dirty="0"/>
              <a:t>Dataset collected</a:t>
            </a:r>
          </a:p>
          <a:p>
            <a:r>
              <a:rPr lang="en-IN" dirty="0"/>
              <a:t>Preprocessing implemented</a:t>
            </a:r>
          </a:p>
          <a:p>
            <a:r>
              <a:rPr lang="en-IN" dirty="0"/>
              <a:t>Basic LDA model trained</a:t>
            </a:r>
          </a:p>
          <a:p>
            <a:r>
              <a:rPr lang="en-IN" dirty="0"/>
              <a:t>Coherence evaluated</a:t>
            </a:r>
          </a:p>
          <a:p>
            <a:r>
              <a:rPr lang="en-IN" dirty="0"/>
              <a:t>Topic clusters generated</a:t>
            </a:r>
          </a:p>
          <a:p>
            <a:r>
              <a:rPr lang="en-IN" dirty="0"/>
              <a:t>Improvement strategies researched</a:t>
            </a:r>
          </a:p>
          <a:p>
            <a:r>
              <a:rPr lang="en-IN" dirty="0"/>
              <a:t>Multilingual analysis assessed</a:t>
            </a:r>
          </a:p>
        </p:txBody>
      </p:sp>
      <p:pic>
        <p:nvPicPr>
          <p:cNvPr id="215" name="Google Shape;215;p25" descr="4e0e733da1-nitj-jalandhar.png">
            <a:extLst>
              <a:ext uri="{FF2B5EF4-FFF2-40B4-BE49-F238E27FC236}">
                <a16:creationId xmlns:a16="http://schemas.microsoft.com/office/drawing/2014/main" id="{0A54D9C5-B3BA-625B-8610-34F13ACB6C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5824" y="3479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>
            <a:extLst>
              <a:ext uri="{FF2B5EF4-FFF2-40B4-BE49-F238E27FC236}">
                <a16:creationId xmlns:a16="http://schemas.microsoft.com/office/drawing/2014/main" id="{72EB43F6-F08A-F9A2-7887-F933115133A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217" name="Google Shape;217;p25">
            <a:extLst>
              <a:ext uri="{FF2B5EF4-FFF2-40B4-BE49-F238E27FC236}">
                <a16:creationId xmlns:a16="http://schemas.microsoft.com/office/drawing/2014/main" id="{2F7834B2-332F-23C6-82AD-382138BD8F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15</a:t>
            </a:r>
            <a:endParaRPr dirty="0"/>
          </a:p>
        </p:txBody>
      </p:sp>
      <p:sp>
        <p:nvSpPr>
          <p:cNvPr id="6" name="Google Shape;214;p25">
            <a:extLst>
              <a:ext uri="{FF2B5EF4-FFF2-40B4-BE49-F238E27FC236}">
                <a16:creationId xmlns:a16="http://schemas.microsoft.com/office/drawing/2014/main" id="{84DBC962-F699-0268-2D09-8394952F2894}"/>
              </a:ext>
            </a:extLst>
          </p:cNvPr>
          <p:cNvSpPr txBox="1">
            <a:spLocks/>
          </p:cNvSpPr>
          <p:nvPr/>
        </p:nvSpPr>
        <p:spPr>
          <a:xfrm>
            <a:off x="4837176" y="2007108"/>
            <a:ext cx="4430776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5755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25754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131445" indent="0">
              <a:buFont typeface="Noto Sans Symbols"/>
              <a:buNone/>
            </a:pPr>
            <a:r>
              <a:rPr lang="en-IN" b="1" dirty="0"/>
              <a:t>❗ Pending</a:t>
            </a:r>
          </a:p>
          <a:p>
            <a:r>
              <a:rPr lang="en-IN" dirty="0"/>
              <a:t>Implement improved LDA pipeline</a:t>
            </a:r>
          </a:p>
          <a:p>
            <a:r>
              <a:rPr lang="en-IN" dirty="0"/>
              <a:t>Arabic processing pipeline</a:t>
            </a:r>
          </a:p>
          <a:p>
            <a:r>
              <a:rPr lang="en-IN" dirty="0"/>
              <a:t>Hyperparameter tuning</a:t>
            </a:r>
          </a:p>
          <a:p>
            <a:r>
              <a:rPr lang="en-IN" dirty="0"/>
              <a:t>Model comparison &amp; final evaluation</a:t>
            </a:r>
          </a:p>
        </p:txBody>
      </p:sp>
    </p:spTree>
    <p:extLst>
      <p:ext uri="{BB962C8B-B14F-4D97-AF65-F5344CB8AC3E}">
        <p14:creationId xmlns:p14="http://schemas.microsoft.com/office/powerpoint/2010/main" val="2933683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C863AD02-E096-0827-30C5-0FE1467EC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>
            <a:extLst>
              <a:ext uri="{FF2B5EF4-FFF2-40B4-BE49-F238E27FC236}">
                <a16:creationId xmlns:a16="http://schemas.microsoft.com/office/drawing/2014/main" id="{12B72ABE-ED4D-996A-4A47-105E9D8BE9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76" y="182880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200"/>
            </a:pPr>
            <a:r>
              <a:rPr lang="en-IN" dirty="0"/>
              <a:t>Future Scope</a:t>
            </a:r>
            <a:endParaRPr dirty="0"/>
          </a:p>
        </p:txBody>
      </p:sp>
      <p:sp>
        <p:nvSpPr>
          <p:cNvPr id="214" name="Google Shape;214;p25">
            <a:extLst>
              <a:ext uri="{FF2B5EF4-FFF2-40B4-BE49-F238E27FC236}">
                <a16:creationId xmlns:a16="http://schemas.microsoft.com/office/drawing/2014/main" id="{1564AA21-B7E9-713F-0AFB-E61E2D07C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5132" y="1792224"/>
            <a:ext cx="7772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IN" dirty="0"/>
              <a:t>Full implementation of improved LDA</a:t>
            </a:r>
          </a:p>
          <a:p>
            <a:r>
              <a:rPr lang="en-IN" dirty="0"/>
              <a:t>Complete multilingual pipeline</a:t>
            </a:r>
          </a:p>
          <a:p>
            <a:r>
              <a:rPr lang="en-IN" dirty="0"/>
              <a:t>Real-time dashboard for threat intelligence</a:t>
            </a:r>
          </a:p>
          <a:p>
            <a:r>
              <a:rPr lang="en-IN" dirty="0"/>
              <a:t>Track topic drift over time</a:t>
            </a:r>
          </a:p>
          <a:p>
            <a:r>
              <a:rPr lang="en-IN" dirty="0"/>
              <a:t>Implement deep-learning models:</a:t>
            </a:r>
          </a:p>
          <a:p>
            <a:pPr lvl="1"/>
            <a:r>
              <a:rPr lang="en-IN" dirty="0" err="1"/>
              <a:t>BERTopic</a:t>
            </a:r>
            <a:r>
              <a:rPr lang="en-IN" dirty="0"/>
              <a:t> </a:t>
            </a:r>
            <a:r>
              <a:rPr lang="en-IN" i="1" dirty="0"/>
              <a:t>(expected +25% quality)</a:t>
            </a:r>
            <a:endParaRPr lang="en-IN" dirty="0"/>
          </a:p>
          <a:p>
            <a:pPr lvl="1"/>
            <a:r>
              <a:rPr lang="en-IN" dirty="0"/>
              <a:t>LDA2Vec</a:t>
            </a:r>
          </a:p>
          <a:p>
            <a:pPr lvl="1"/>
            <a:r>
              <a:rPr lang="en-IN" dirty="0"/>
              <a:t>Top2Vec</a:t>
            </a:r>
          </a:p>
          <a:p>
            <a:r>
              <a:rPr lang="en-IN" dirty="0"/>
              <a:t>Add sentiment &amp; intent detection to identify:</a:t>
            </a:r>
          </a:p>
          <a:p>
            <a:pPr lvl="1"/>
            <a:r>
              <a:rPr lang="en-IN" dirty="0"/>
              <a:t>Threat levels</a:t>
            </a:r>
          </a:p>
          <a:p>
            <a:pPr lvl="1"/>
            <a:r>
              <a:rPr lang="en-IN" dirty="0"/>
              <a:t>Harmful intents (e.g., hiring hackers, buying exploits)</a:t>
            </a:r>
          </a:p>
        </p:txBody>
      </p:sp>
      <p:pic>
        <p:nvPicPr>
          <p:cNvPr id="215" name="Google Shape;215;p25" descr="4e0e733da1-nitj-jalandhar.png">
            <a:extLst>
              <a:ext uri="{FF2B5EF4-FFF2-40B4-BE49-F238E27FC236}">
                <a16:creationId xmlns:a16="http://schemas.microsoft.com/office/drawing/2014/main" id="{A5383620-1A14-A59B-EB26-68408EADE1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5824" y="3479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>
            <a:extLst>
              <a:ext uri="{FF2B5EF4-FFF2-40B4-BE49-F238E27FC236}">
                <a16:creationId xmlns:a16="http://schemas.microsoft.com/office/drawing/2014/main" id="{4E4E4AEF-5E1C-E58E-D22A-0D8AD6C164C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217" name="Google Shape;217;p25">
            <a:extLst>
              <a:ext uri="{FF2B5EF4-FFF2-40B4-BE49-F238E27FC236}">
                <a16:creationId xmlns:a16="http://schemas.microsoft.com/office/drawing/2014/main" id="{6F5A5878-758F-DE07-9E13-E79773C66A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3734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385CAD5C-0F53-0CB5-74C8-3CF6C67C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>
            <a:extLst>
              <a:ext uri="{FF2B5EF4-FFF2-40B4-BE49-F238E27FC236}">
                <a16:creationId xmlns:a16="http://schemas.microsoft.com/office/drawing/2014/main" id="{12A5E161-57CF-59C6-D97D-695411AB0C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lang="en-US" sz="4200" b="0" cap="none">
                <a:latin typeface="Rockwell"/>
                <a:ea typeface="Rockwell"/>
                <a:cs typeface="Rockwell"/>
                <a:sym typeface="Rockwell"/>
              </a:rPr>
              <a:t>REFERENCES</a:t>
            </a:r>
            <a:endParaRPr/>
          </a:p>
        </p:txBody>
      </p:sp>
      <p:sp>
        <p:nvSpPr>
          <p:cNvPr id="214" name="Google Shape;214;p25">
            <a:extLst>
              <a:ext uri="{FF2B5EF4-FFF2-40B4-BE49-F238E27FC236}">
                <a16:creationId xmlns:a16="http://schemas.microsoft.com/office/drawing/2014/main" id="{C943A747-CA69-1514-64AB-63C1457057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r>
              <a:rPr lang="en-IN" dirty="0"/>
              <a:t>[1] University of Arizona, </a:t>
            </a:r>
            <a:r>
              <a:rPr lang="en-IN" i="1" dirty="0"/>
              <a:t>Dark Web Project Portal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>
                <a:hlinkClick r:id="rId3"/>
              </a:rPr>
              <a:t>https://www.azsecure-data.org/</a:t>
            </a:r>
            <a:endParaRPr lang="en-IN" dirty="0"/>
          </a:p>
          <a:p>
            <a:r>
              <a:rPr lang="en-IN" dirty="0"/>
              <a:t>[2] A. Abbasi, H. Chen, A. Salem, “Sentiment Analysis in Multiple Languages: Feature Selection for Extremist Forums.”</a:t>
            </a:r>
            <a:br>
              <a:rPr lang="en-IN" dirty="0"/>
            </a:br>
            <a:r>
              <a:rPr lang="en-IN" dirty="0">
                <a:hlinkClick r:id="rId4"/>
              </a:rPr>
              <a:t>https://shorturl.at/KUh8L</a:t>
            </a:r>
            <a:endParaRPr lang="en-IN" dirty="0"/>
          </a:p>
          <a:p>
            <a:r>
              <a:rPr lang="en-IN" dirty="0"/>
              <a:t>[3] J. Scanlon, M. Gerber, “Automatic Detection of Cyber-Recruitment.”</a:t>
            </a:r>
            <a:br>
              <a:rPr lang="en-IN" dirty="0"/>
            </a:br>
            <a:r>
              <a:rPr lang="en-IN" dirty="0">
                <a:hlinkClick r:id="rId5"/>
              </a:rPr>
              <a:t>https://link.springer.com/article/10.1186/s13388-014-0005-5</a:t>
            </a:r>
            <a:endParaRPr lang="en-IN" dirty="0"/>
          </a:p>
          <a:p>
            <a:r>
              <a:rPr lang="en-IN" dirty="0"/>
              <a:t>[4] D. </a:t>
            </a:r>
            <a:r>
              <a:rPr lang="en-IN" dirty="0" err="1"/>
              <a:t>Kapugama</a:t>
            </a:r>
            <a:r>
              <a:rPr lang="en-IN" dirty="0"/>
              <a:t> </a:t>
            </a:r>
            <a:r>
              <a:rPr lang="en-IN" dirty="0" err="1"/>
              <a:t>Geeganage</a:t>
            </a:r>
            <a:r>
              <a:rPr lang="en-IN" dirty="0"/>
              <a:t> et al., “Semantic-LDA: A Semantics-Enhanced Topic Modelling Technique.”</a:t>
            </a:r>
            <a:br>
              <a:rPr lang="en-IN" dirty="0"/>
            </a:br>
            <a:r>
              <a:rPr lang="en-IN" dirty="0">
                <a:hlinkClick r:id="rId6"/>
              </a:rPr>
              <a:t>https://eprints.qut.edu.au/246151/</a:t>
            </a:r>
            <a:endParaRPr lang="en-IN" dirty="0"/>
          </a:p>
          <a:p>
            <a:r>
              <a:rPr lang="en-IN" dirty="0"/>
              <a:t>[5] J.K. Saini, “LSTM-Based Deep Learning for Violent Activity Detection over Dark Web.”</a:t>
            </a:r>
            <a:br>
              <a:rPr lang="en-IN" dirty="0"/>
            </a:br>
            <a:r>
              <a:rPr lang="en-IN" dirty="0">
                <a:hlinkClick r:id="rId7"/>
              </a:rPr>
              <a:t>https://link.springer.com/article/10.1007/s11042-023-17222-8</a:t>
            </a:r>
            <a:endParaRPr lang="en-IN" dirty="0"/>
          </a:p>
          <a:p>
            <a:r>
              <a:rPr lang="en-IN" dirty="0"/>
              <a:t>[6] J.K. Saini, D. Bansal, “Automated Detection of Illegal Weapon Procurement over Dark Web.”</a:t>
            </a:r>
            <a:br>
              <a:rPr lang="en-IN" dirty="0"/>
            </a:br>
            <a:r>
              <a:rPr lang="en-IN" dirty="0">
                <a:hlinkClick r:id="rId8"/>
              </a:rPr>
              <a:t>https://shorturl.at/u30Dz</a:t>
            </a:r>
            <a:endParaRPr lang="en-IN" dirty="0"/>
          </a:p>
        </p:txBody>
      </p:sp>
      <p:pic>
        <p:nvPicPr>
          <p:cNvPr id="215" name="Google Shape;215;p25" descr="4e0e733da1-nitj-jalandhar.png">
            <a:extLst>
              <a:ext uri="{FF2B5EF4-FFF2-40B4-BE49-F238E27FC236}">
                <a16:creationId xmlns:a16="http://schemas.microsoft.com/office/drawing/2014/main" id="{9E477CAF-790C-BBC0-7C7E-032DEC04683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72400" y="1828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>
            <a:extLst>
              <a:ext uri="{FF2B5EF4-FFF2-40B4-BE49-F238E27FC236}">
                <a16:creationId xmlns:a16="http://schemas.microsoft.com/office/drawing/2014/main" id="{2B0BA4AD-BC46-B669-9241-85890667615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217" name="Google Shape;217;p25">
            <a:extLst>
              <a:ext uri="{FF2B5EF4-FFF2-40B4-BE49-F238E27FC236}">
                <a16:creationId xmlns:a16="http://schemas.microsoft.com/office/drawing/2014/main" id="{54A87C7A-43B5-6B25-C3F4-1EAA6F0E45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4095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lang="en-US" sz="4200" b="0" cap="none">
                <a:latin typeface="Rockwell"/>
                <a:ea typeface="Rockwell"/>
                <a:cs typeface="Rockwell"/>
                <a:sym typeface="Rockwell"/>
              </a:rPr>
              <a:t>THANK YOU</a:t>
            </a:r>
            <a:endParaRPr/>
          </a:p>
        </p:txBody>
      </p:sp>
      <p:sp>
        <p:nvSpPr>
          <p:cNvPr id="223" name="Google Shape;223;p26"/>
          <p:cNvSpPr txBox="1"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Questions?</a:t>
            </a:r>
            <a:endParaRPr dirty="0"/>
          </a:p>
        </p:txBody>
      </p:sp>
      <p:pic>
        <p:nvPicPr>
          <p:cNvPr id="224" name="Google Shape;224;p26" descr="4e0e733da1-nitj-jalandha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1828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6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25/11/2025</a:t>
            </a:r>
          </a:p>
        </p:txBody>
      </p:sp>
      <p:sp>
        <p:nvSpPr>
          <p:cNvPr id="226" name="Google Shape;226;p26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18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1680</Words>
  <Application>Microsoft Office PowerPoint</Application>
  <PresentationFormat>On-screen Show (4:3)</PresentationFormat>
  <Paragraphs>265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Noto Sans Symbols</vt:lpstr>
      <vt:lpstr>Calibri</vt:lpstr>
      <vt:lpstr>Arial</vt:lpstr>
      <vt:lpstr>Rockwell</vt:lpstr>
      <vt:lpstr>Aptos</vt:lpstr>
      <vt:lpstr>Federo</vt:lpstr>
      <vt:lpstr>Arial Black</vt:lpstr>
      <vt:lpstr>Times New Roman</vt:lpstr>
      <vt:lpstr>Wood Type</vt:lpstr>
      <vt:lpstr>PowerPoint Presentation</vt:lpstr>
      <vt:lpstr>TABLE OF CONTENTS</vt:lpstr>
      <vt:lpstr>INTRODUCTION</vt:lpstr>
      <vt:lpstr>LITERATURE REVIEW</vt:lpstr>
      <vt:lpstr>PROBLEM STATEMENT</vt:lpstr>
      <vt:lpstr>OBJECTIVES</vt:lpstr>
      <vt:lpstr>System Architecture Diagram</vt:lpstr>
      <vt:lpstr>METHODOLOGY</vt:lpstr>
      <vt:lpstr>PowerPoint Presentation</vt:lpstr>
      <vt:lpstr>PowerPoint Presentation</vt:lpstr>
      <vt:lpstr>Basic LDA Implementation  (Ansar1 Dataset)</vt:lpstr>
      <vt:lpstr>Basic LDA Implementation  (Ansar1 Dataset)</vt:lpstr>
      <vt:lpstr>Issues Observed (Basic LDA Limitations)</vt:lpstr>
      <vt:lpstr>Proposed Improvements </vt:lpstr>
      <vt:lpstr>Proposed Improvements </vt:lpstr>
      <vt:lpstr>Progress Till Now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Vidur Dua</cp:lastModifiedBy>
  <cp:revision>6</cp:revision>
  <dcterms:modified xsi:type="dcterms:W3CDTF">2025-11-25T04:44:41Z</dcterms:modified>
</cp:coreProperties>
</file>